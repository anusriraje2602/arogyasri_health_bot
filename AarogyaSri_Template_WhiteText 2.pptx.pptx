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9753600" cy="7315200"/>
  <p:notesSz cx="6858000" cy="9144000"/>
  <p:embeddedFontLst>
    <p:embeddedFont>
      <p:font typeface="Times New Roman MT Bold" charset="1" panose="02030802070405020303"/>
      <p:regular r:id="rId25"/>
    </p:embeddedFont>
    <p:embeddedFont>
      <p:font typeface="Canva Sans" charset="1" panose="020B0503030501040103"/>
      <p:regular r:id="rId26"/>
    </p:embeddedFont>
    <p:embeddedFont>
      <p:font typeface="Times New Roman MT" charset="1" panose="02030502070405020303"/>
      <p:regular r:id="rId27"/>
    </p:embeddedFont>
    <p:embeddedFont>
      <p:font typeface="Canva Sans Bold" charset="1" panose="020B0803030501040103"/>
      <p:regular r:id="rId28"/>
    </p:embeddedFont>
    <p:embeddedFont>
      <p:font typeface="Arial Bold" charset="1" panose="020B0704020202020204"/>
      <p:regular r:id="rId29"/>
    </p:embeddedFont>
    <p:embeddedFont>
      <p:font typeface="Arial" charset="1" panose="020B0604020202020204"/>
      <p:regular r:id="rId30"/>
    </p:embeddedFont>
    <p:embeddedFont>
      <p:font typeface="Helvetica World" charset="1" panose="020B0500040000020004"/>
      <p:regular r:id="rId31"/>
    </p:embeddedFont>
    <p:embeddedFont>
      <p:font typeface="Helvetica World Bold" charset="1" panose="020B0800040000020004"/>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bg_1.png"/>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16646" t="0" r="-16646" b="0"/>
            </a:stretch>
          </a:blipFill>
        </p:spPr>
      </p:sp>
      <p:grpSp>
        <p:nvGrpSpPr>
          <p:cNvPr name="Group 3" id="3"/>
          <p:cNvGrpSpPr/>
          <p:nvPr/>
        </p:nvGrpSpPr>
        <p:grpSpPr>
          <a:xfrm rot="5400000">
            <a:off x="8621465" y="6284114"/>
            <a:ext cx="1603729" cy="1501363"/>
            <a:chOff x="0" y="0"/>
            <a:chExt cx="596900" cy="558800"/>
          </a:xfrm>
        </p:grpSpPr>
        <p:sp>
          <p:nvSpPr>
            <p:cNvPr name="Freeform 4" id="4"/>
            <p:cNvSpPr/>
            <p:nvPr/>
          </p:nvSpPr>
          <p:spPr>
            <a:xfrm flipH="false" flipV="false" rot="0">
              <a:off x="0" y="0"/>
              <a:ext cx="596900" cy="558800"/>
            </a:xfrm>
            <a:custGeom>
              <a:avLst/>
              <a:gdLst/>
              <a:ahLst/>
              <a:cxnLst/>
              <a:rect r="r" b="b" t="t" l="l"/>
              <a:pathLst>
                <a:path h="558800" w="596900">
                  <a:moveTo>
                    <a:pt x="596900" y="0"/>
                  </a:moveTo>
                  <a:lnTo>
                    <a:pt x="596900" y="304800"/>
                  </a:lnTo>
                  <a:lnTo>
                    <a:pt x="330200" y="558800"/>
                  </a:lnTo>
                  <a:lnTo>
                    <a:pt x="0" y="558800"/>
                  </a:lnTo>
                  <a:lnTo>
                    <a:pt x="0" y="248920"/>
                  </a:lnTo>
                  <a:lnTo>
                    <a:pt x="262890" y="0"/>
                  </a:lnTo>
                  <a:lnTo>
                    <a:pt x="596900" y="0"/>
                  </a:lnTo>
                  <a:close/>
                </a:path>
              </a:pathLst>
            </a:custGeom>
            <a:solidFill>
              <a:srgbClr val="902275"/>
            </a:solidFill>
          </p:spPr>
        </p:sp>
        <p:sp>
          <p:nvSpPr>
            <p:cNvPr name="TextBox 5" id="5"/>
            <p:cNvSpPr txBox="true"/>
            <p:nvPr/>
          </p:nvSpPr>
          <p:spPr>
            <a:xfrm>
              <a:off x="101600" y="104775"/>
              <a:ext cx="393700" cy="321945"/>
            </a:xfrm>
            <a:prstGeom prst="rect">
              <a:avLst/>
            </a:prstGeom>
          </p:spPr>
          <p:txBody>
            <a:bodyPr anchor="ctr" rtlCol="false" tIns="50800" lIns="50800" bIns="50800" rIns="50800"/>
            <a:lstStyle/>
            <a:p>
              <a:pPr algn="ctr">
                <a:lnSpc>
                  <a:spcPts val="1960"/>
                </a:lnSpc>
              </a:pPr>
            </a:p>
          </p:txBody>
        </p:sp>
      </p:grpSp>
      <p:grpSp>
        <p:nvGrpSpPr>
          <p:cNvPr name="Group 6" id="6"/>
          <p:cNvGrpSpPr/>
          <p:nvPr/>
        </p:nvGrpSpPr>
        <p:grpSpPr>
          <a:xfrm rot="5400000">
            <a:off x="-487680" y="-446669"/>
            <a:ext cx="1511401" cy="1414929"/>
            <a:chOff x="0" y="0"/>
            <a:chExt cx="596900" cy="558800"/>
          </a:xfrm>
        </p:grpSpPr>
        <p:sp>
          <p:nvSpPr>
            <p:cNvPr name="Freeform 7" id="7"/>
            <p:cNvSpPr/>
            <p:nvPr/>
          </p:nvSpPr>
          <p:spPr>
            <a:xfrm flipH="false" flipV="false" rot="0">
              <a:off x="0" y="0"/>
              <a:ext cx="596900" cy="558800"/>
            </a:xfrm>
            <a:custGeom>
              <a:avLst/>
              <a:gdLst/>
              <a:ahLst/>
              <a:cxnLst/>
              <a:rect r="r" b="b" t="t" l="l"/>
              <a:pathLst>
                <a:path h="558800" w="596900">
                  <a:moveTo>
                    <a:pt x="596900" y="0"/>
                  </a:moveTo>
                  <a:lnTo>
                    <a:pt x="596900" y="304800"/>
                  </a:lnTo>
                  <a:lnTo>
                    <a:pt x="330200" y="558800"/>
                  </a:lnTo>
                  <a:lnTo>
                    <a:pt x="0" y="558800"/>
                  </a:lnTo>
                  <a:lnTo>
                    <a:pt x="0" y="248920"/>
                  </a:lnTo>
                  <a:lnTo>
                    <a:pt x="262890" y="0"/>
                  </a:lnTo>
                  <a:lnTo>
                    <a:pt x="596900" y="0"/>
                  </a:lnTo>
                  <a:close/>
                </a:path>
              </a:pathLst>
            </a:custGeom>
            <a:solidFill>
              <a:srgbClr val="902275"/>
            </a:solidFill>
          </p:spPr>
        </p:sp>
        <p:sp>
          <p:nvSpPr>
            <p:cNvPr name="TextBox 8" id="8"/>
            <p:cNvSpPr txBox="true"/>
            <p:nvPr/>
          </p:nvSpPr>
          <p:spPr>
            <a:xfrm>
              <a:off x="101600" y="104775"/>
              <a:ext cx="393700" cy="321945"/>
            </a:xfrm>
            <a:prstGeom prst="rect">
              <a:avLst/>
            </a:prstGeom>
          </p:spPr>
          <p:txBody>
            <a:bodyPr anchor="ctr" rtlCol="false" tIns="50800" lIns="50800" bIns="50800" rIns="50800"/>
            <a:lstStyle/>
            <a:p>
              <a:pPr algn="ctr">
                <a:lnSpc>
                  <a:spcPts val="1960"/>
                </a:lnSpc>
              </a:pPr>
            </a:p>
          </p:txBody>
        </p:sp>
      </p:grpSp>
      <p:sp>
        <p:nvSpPr>
          <p:cNvPr name="TextBox 9" id="9"/>
          <p:cNvSpPr txBox="true"/>
          <p:nvPr/>
        </p:nvSpPr>
        <p:spPr>
          <a:xfrm rot="0">
            <a:off x="469739" y="3219637"/>
            <a:ext cx="8814121" cy="1095375"/>
          </a:xfrm>
          <a:prstGeom prst="rect">
            <a:avLst/>
          </a:prstGeom>
        </p:spPr>
        <p:txBody>
          <a:bodyPr anchor="t" rtlCol="false" tIns="0" lIns="0" bIns="0" rIns="0">
            <a:spAutoFit/>
          </a:bodyPr>
          <a:lstStyle/>
          <a:p>
            <a:pPr algn="ctr">
              <a:lnSpc>
                <a:spcPts val="4070"/>
              </a:lnSpc>
            </a:pPr>
            <a:r>
              <a:rPr lang="en-US" sz="3391" b="true">
                <a:solidFill>
                  <a:srgbClr val="FFFFFF"/>
                </a:solidFill>
                <a:latin typeface="Times New Roman MT Bold"/>
                <a:ea typeface="Times New Roman MT Bold"/>
                <a:cs typeface="Times New Roman MT Bold"/>
                <a:sym typeface="Times New Roman MT Bold"/>
              </a:rPr>
              <a:t>BITSOM  </a:t>
            </a:r>
          </a:p>
          <a:p>
            <a:pPr algn="ctr">
              <a:lnSpc>
                <a:spcPts val="4070"/>
              </a:lnSpc>
              <a:spcBef>
                <a:spcPct val="0"/>
              </a:spcBef>
            </a:pPr>
            <a:r>
              <a:rPr lang="en-US" b="true" sz="3391">
                <a:solidFill>
                  <a:srgbClr val="FFFFFF"/>
                </a:solidFill>
                <a:latin typeface="Times New Roman MT Bold"/>
                <a:ea typeface="Times New Roman MT Bold"/>
                <a:cs typeface="Times New Roman MT Bold"/>
                <a:sym typeface="Times New Roman MT Bold"/>
              </a:rPr>
              <a:t>Pr</a:t>
            </a:r>
            <a:r>
              <a:rPr lang="en-US" b="true" sz="3391">
                <a:solidFill>
                  <a:srgbClr val="FFFFFF"/>
                </a:solidFill>
                <a:latin typeface="Times New Roman MT Bold"/>
                <a:ea typeface="Times New Roman MT Bold"/>
                <a:cs typeface="Times New Roman MT Bold"/>
                <a:sym typeface="Times New Roman MT Bold"/>
              </a:rPr>
              <a:t>oduct Management with GenAI and AgenticAI</a:t>
            </a:r>
          </a:p>
        </p:txBody>
      </p:sp>
      <p:sp>
        <p:nvSpPr>
          <p:cNvPr name="TextBox 10" id="10"/>
          <p:cNvSpPr txBox="true"/>
          <p:nvPr/>
        </p:nvSpPr>
        <p:spPr>
          <a:xfrm rot="0">
            <a:off x="469739" y="5027168"/>
            <a:ext cx="8814121" cy="815340"/>
          </a:xfrm>
          <a:prstGeom prst="rect">
            <a:avLst/>
          </a:prstGeom>
        </p:spPr>
        <p:txBody>
          <a:bodyPr anchor="t" rtlCol="false" tIns="0" lIns="0" bIns="0" rIns="0">
            <a:spAutoFit/>
          </a:bodyPr>
          <a:lstStyle/>
          <a:p>
            <a:pPr algn="ctr">
              <a:lnSpc>
                <a:spcPts val="3359"/>
              </a:lnSpc>
            </a:pPr>
            <a:r>
              <a:rPr lang="en-US" sz="2399">
                <a:solidFill>
                  <a:srgbClr val="FFFFFF"/>
                </a:solidFill>
                <a:latin typeface="Canva Sans"/>
                <a:ea typeface="Canva Sans"/>
                <a:cs typeface="Canva Sans"/>
                <a:sym typeface="Canva Sans"/>
              </a:rPr>
              <a:t>Team:  </a:t>
            </a:r>
          </a:p>
          <a:p>
            <a:pPr algn="ctr">
              <a:lnSpc>
                <a:spcPts val="3359"/>
              </a:lnSpc>
            </a:pPr>
            <a:r>
              <a:rPr lang="en-US" sz="2399">
                <a:solidFill>
                  <a:srgbClr val="FFFFFF"/>
                </a:solidFill>
                <a:latin typeface="Canva Sans"/>
                <a:ea typeface="Canva Sans"/>
                <a:cs typeface="Canva Sans"/>
                <a:sym typeface="Canva Sans"/>
              </a:rPr>
              <a:t>Anusriraje | Vigneshwar | Mayurika | Ananya | Vaibhav</a:t>
            </a:r>
          </a:p>
        </p:txBody>
      </p:sp>
      <p:sp>
        <p:nvSpPr>
          <p:cNvPr name="TextBox 11" id="11"/>
          <p:cNvSpPr txBox="true"/>
          <p:nvPr/>
        </p:nvSpPr>
        <p:spPr>
          <a:xfrm rot="0">
            <a:off x="1080952" y="1684064"/>
            <a:ext cx="7591696" cy="1152525"/>
          </a:xfrm>
          <a:prstGeom prst="rect">
            <a:avLst/>
          </a:prstGeom>
        </p:spPr>
        <p:txBody>
          <a:bodyPr anchor="t" rtlCol="false" tIns="0" lIns="0" bIns="0" rIns="0">
            <a:spAutoFit/>
          </a:bodyPr>
          <a:lstStyle/>
          <a:p>
            <a:pPr algn="ctr">
              <a:lnSpc>
                <a:spcPts val="8400"/>
              </a:lnSpc>
            </a:pPr>
            <a:r>
              <a:rPr lang="en-US" sz="6000" b="true">
                <a:solidFill>
                  <a:srgbClr val="FFFFFF"/>
                </a:solidFill>
                <a:latin typeface="Times New Roman MT Bold"/>
                <a:ea typeface="Times New Roman MT Bold"/>
                <a:cs typeface="Times New Roman MT Bold"/>
                <a:sym typeface="Times New Roman MT Bold"/>
              </a:rPr>
              <a:t>AAROGYA SRI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bg_1.png"/>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16646" t="0" r="-16646" b="0"/>
            </a:stretch>
          </a:blipFill>
        </p:spPr>
      </p:sp>
      <p:sp>
        <p:nvSpPr>
          <p:cNvPr name="TextBox 3" id="3"/>
          <p:cNvSpPr txBox="true"/>
          <p:nvPr/>
        </p:nvSpPr>
        <p:spPr>
          <a:xfrm rot="0">
            <a:off x="584200" y="712057"/>
            <a:ext cx="8585200" cy="5719637"/>
          </a:xfrm>
          <a:prstGeom prst="rect">
            <a:avLst/>
          </a:prstGeom>
        </p:spPr>
        <p:txBody>
          <a:bodyPr anchor="t" rtlCol="false" tIns="0" lIns="0" bIns="0" rIns="0">
            <a:spAutoFit/>
          </a:bodyPr>
          <a:lstStyle/>
          <a:p>
            <a:pPr algn="l">
              <a:lnSpc>
                <a:spcPts val="5086"/>
              </a:lnSpc>
            </a:pPr>
            <a:r>
              <a:rPr lang="en-US" sz="3324">
                <a:solidFill>
                  <a:srgbClr val="FFFFFF"/>
                </a:solidFill>
                <a:latin typeface="Times New Roman MT"/>
                <a:ea typeface="Times New Roman MT"/>
                <a:cs typeface="Times New Roman MT"/>
                <a:sym typeface="Times New Roman MT"/>
              </a:rPr>
              <a:t>PROBLEM STATEMENT</a:t>
            </a:r>
          </a:p>
          <a:p>
            <a:pPr algn="just">
              <a:lnSpc>
                <a:spcPts val="3615"/>
              </a:lnSpc>
            </a:pPr>
          </a:p>
          <a:p>
            <a:pPr algn="just">
              <a:lnSpc>
                <a:spcPts val="3615"/>
              </a:lnSpc>
            </a:pPr>
            <a:r>
              <a:rPr lang="en-US" sz="2363" b="true">
                <a:solidFill>
                  <a:srgbClr val="FFFFFF"/>
                </a:solidFill>
                <a:latin typeface="Canva Sans Bold"/>
                <a:ea typeface="Canva Sans Bold"/>
                <a:cs typeface="Canva Sans Bold"/>
                <a:sym typeface="Canva Sans Bold"/>
              </a:rPr>
              <a:t>The Core Problem</a:t>
            </a:r>
          </a:p>
          <a:p>
            <a:pPr algn="just" marL="510214" indent="-255107" lvl="1">
              <a:lnSpc>
                <a:spcPts val="3615"/>
              </a:lnSpc>
              <a:buFont typeface="Arial"/>
              <a:buChar char="•"/>
            </a:pPr>
            <a:r>
              <a:rPr lang="en-US" sz="2363">
                <a:solidFill>
                  <a:srgbClr val="FFFFFF"/>
                </a:solidFill>
                <a:latin typeface="Canva Sans"/>
                <a:ea typeface="Canva Sans"/>
                <a:cs typeface="Canva Sans"/>
                <a:sym typeface="Canva Sans"/>
              </a:rPr>
              <a:t>Millions lack access to trusted health information</a:t>
            </a:r>
          </a:p>
          <a:p>
            <a:pPr algn="just" marL="510214" indent="-255107" lvl="1">
              <a:lnSpc>
                <a:spcPts val="3615"/>
              </a:lnSpc>
              <a:buFont typeface="Arial"/>
              <a:buChar char="•"/>
            </a:pPr>
            <a:r>
              <a:rPr lang="en-US" sz="2363">
                <a:solidFill>
                  <a:srgbClr val="FFFFFF"/>
                </a:solidFill>
                <a:latin typeface="Canva Sans"/>
                <a:ea typeface="Canva Sans"/>
                <a:cs typeface="Canva Sans"/>
                <a:sym typeface="Canva Sans"/>
              </a:rPr>
              <a:t>Language barriers block understanding</a:t>
            </a:r>
          </a:p>
          <a:p>
            <a:pPr algn="just" marL="510214" indent="-255107" lvl="1">
              <a:lnSpc>
                <a:spcPts val="3615"/>
              </a:lnSpc>
              <a:buFont typeface="Arial"/>
              <a:buChar char="•"/>
            </a:pPr>
            <a:r>
              <a:rPr lang="en-US" sz="2363">
                <a:solidFill>
                  <a:srgbClr val="FFFFFF"/>
                </a:solidFill>
                <a:latin typeface="Canva Sans"/>
                <a:ea typeface="Canva Sans"/>
                <a:cs typeface="Canva Sans"/>
                <a:sym typeface="Canva Sans"/>
              </a:rPr>
              <a:t>Dependence on misinformation (WhatsApp, hearsay)</a:t>
            </a:r>
          </a:p>
          <a:p>
            <a:pPr algn="just" marL="510214" indent="-255107" lvl="1">
              <a:lnSpc>
                <a:spcPts val="3615"/>
              </a:lnSpc>
              <a:buFont typeface="Arial"/>
              <a:buChar char="•"/>
            </a:pPr>
            <a:r>
              <a:rPr lang="en-US" sz="2363">
                <a:solidFill>
                  <a:srgbClr val="FFFFFF"/>
                </a:solidFill>
                <a:latin typeface="Canva Sans"/>
                <a:ea typeface="Canva Sans"/>
                <a:cs typeface="Canva Sans"/>
                <a:sym typeface="Canva Sans"/>
              </a:rPr>
              <a:t>High cost and delays in healthcare decisions</a:t>
            </a:r>
          </a:p>
          <a:p>
            <a:pPr algn="just">
              <a:lnSpc>
                <a:spcPts val="3615"/>
              </a:lnSpc>
            </a:pPr>
          </a:p>
          <a:p>
            <a:pPr algn="just">
              <a:lnSpc>
                <a:spcPts val="3615"/>
              </a:lnSpc>
            </a:pPr>
            <a:r>
              <a:rPr lang="en-US" sz="2363" b="true">
                <a:solidFill>
                  <a:srgbClr val="FFFFFF"/>
                </a:solidFill>
                <a:latin typeface="Canva Sans Bold"/>
                <a:ea typeface="Canva Sans Bold"/>
                <a:cs typeface="Canva Sans Bold"/>
                <a:sym typeface="Canva Sans Bold"/>
              </a:rPr>
              <a:t>Why this matters</a:t>
            </a:r>
          </a:p>
          <a:p>
            <a:pPr algn="just" marL="510214" indent="-255107" lvl="1">
              <a:lnSpc>
                <a:spcPts val="3615"/>
              </a:lnSpc>
              <a:buFont typeface="Arial"/>
              <a:buChar char="•"/>
            </a:pPr>
            <a:r>
              <a:rPr lang="en-US" sz="2363">
                <a:solidFill>
                  <a:srgbClr val="FFFFFF"/>
                </a:solidFill>
                <a:latin typeface="Canva Sans"/>
                <a:ea typeface="Canva Sans"/>
                <a:cs typeface="Canva Sans"/>
                <a:sym typeface="Canva Sans"/>
              </a:rPr>
              <a:t>Delayed care increases health risks</a:t>
            </a:r>
          </a:p>
          <a:p>
            <a:pPr algn="just" marL="510214" indent="-255107" lvl="1">
              <a:lnSpc>
                <a:spcPts val="3615"/>
              </a:lnSpc>
              <a:buFont typeface="Arial"/>
              <a:buChar char="•"/>
            </a:pPr>
            <a:r>
              <a:rPr lang="en-US" sz="2363">
                <a:solidFill>
                  <a:srgbClr val="FFFFFF"/>
                </a:solidFill>
                <a:latin typeface="Canva Sans"/>
                <a:ea typeface="Canva Sans"/>
                <a:cs typeface="Canva Sans"/>
                <a:sym typeface="Canva Sans"/>
              </a:rPr>
              <a:t>Preventive care is underutilized</a:t>
            </a:r>
          </a:p>
          <a:p>
            <a:pPr algn="just" marL="510214" indent="-255107" lvl="1">
              <a:lnSpc>
                <a:spcPts val="3615"/>
              </a:lnSpc>
              <a:buFont typeface="Arial"/>
              <a:buChar char="•"/>
            </a:pPr>
            <a:r>
              <a:rPr lang="en-US" sz="2363">
                <a:solidFill>
                  <a:srgbClr val="FFFFFF"/>
                </a:solidFill>
                <a:latin typeface="Canva Sans"/>
                <a:ea typeface="Canva Sans"/>
                <a:cs typeface="Canva Sans"/>
                <a:sym typeface="Canva Sans"/>
              </a:rPr>
              <a:t>Anxiety and uncertainty remain high</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bg_1.png"/>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16646" t="0" r="-16646" b="0"/>
            </a:stretch>
          </a:blipFill>
        </p:spPr>
      </p:sp>
      <p:sp>
        <p:nvSpPr>
          <p:cNvPr name="TextBox 3" id="3"/>
          <p:cNvSpPr txBox="true"/>
          <p:nvPr/>
        </p:nvSpPr>
        <p:spPr>
          <a:xfrm rot="0">
            <a:off x="1066800" y="825246"/>
            <a:ext cx="7620000" cy="5588508"/>
          </a:xfrm>
          <a:prstGeom prst="rect">
            <a:avLst/>
          </a:prstGeom>
        </p:spPr>
        <p:txBody>
          <a:bodyPr anchor="t" rtlCol="false" tIns="0" lIns="0" bIns="0" rIns="0">
            <a:spAutoFit/>
          </a:bodyPr>
          <a:lstStyle/>
          <a:p>
            <a:pPr algn="just">
              <a:lnSpc>
                <a:spcPts val="4167"/>
              </a:lnSpc>
            </a:pPr>
            <a:r>
              <a:rPr lang="en-US" sz="3473" b="true">
                <a:solidFill>
                  <a:srgbClr val="FFFFFF"/>
                </a:solidFill>
                <a:latin typeface="Times New Roman MT Bold"/>
                <a:ea typeface="Times New Roman MT Bold"/>
                <a:cs typeface="Times New Roman MT Bold"/>
                <a:sym typeface="Times New Roman MT Bold"/>
              </a:rPr>
              <a:t>TARGET USERS &amp; CONTEXT</a:t>
            </a:r>
          </a:p>
          <a:p>
            <a:pPr algn="just">
              <a:lnSpc>
                <a:spcPts val="3687"/>
              </a:lnSpc>
            </a:pPr>
          </a:p>
          <a:p>
            <a:pPr algn="just">
              <a:lnSpc>
                <a:spcPts val="3671"/>
              </a:lnSpc>
            </a:pPr>
            <a:r>
              <a:rPr lang="en-US" sz="2399" b="true">
                <a:solidFill>
                  <a:srgbClr val="FFFFFF"/>
                </a:solidFill>
                <a:latin typeface="Canva Sans Bold"/>
                <a:ea typeface="Canva Sans Bold"/>
                <a:cs typeface="Canva Sans Bold"/>
                <a:sym typeface="Canva Sans Bold"/>
              </a:rPr>
              <a:t>Primary Users</a:t>
            </a:r>
          </a:p>
          <a:p>
            <a:pPr algn="just" marL="518158" indent="-259079" lvl="1">
              <a:lnSpc>
                <a:spcPts val="3671"/>
              </a:lnSpc>
              <a:buFont typeface="Arial"/>
              <a:buChar char="•"/>
            </a:pPr>
            <a:r>
              <a:rPr lang="en-US" sz="2399">
                <a:solidFill>
                  <a:srgbClr val="FFFFFF"/>
                </a:solidFill>
                <a:latin typeface="Canva Sans"/>
                <a:ea typeface="Canva Sans"/>
                <a:cs typeface="Canva Sans"/>
                <a:sym typeface="Canva Sans"/>
              </a:rPr>
              <a:t>Low–middle income families</a:t>
            </a:r>
          </a:p>
          <a:p>
            <a:pPr algn="just" marL="518158" indent="-259079" lvl="1">
              <a:lnSpc>
                <a:spcPts val="3671"/>
              </a:lnSpc>
              <a:buFont typeface="Arial"/>
              <a:buChar char="•"/>
            </a:pPr>
            <a:r>
              <a:rPr lang="en-US" sz="2399">
                <a:solidFill>
                  <a:srgbClr val="FFFFFF"/>
                </a:solidFill>
                <a:latin typeface="Canva Sans"/>
                <a:ea typeface="Canva Sans"/>
                <a:cs typeface="Canva Sans"/>
                <a:sym typeface="Canva Sans"/>
              </a:rPr>
              <a:t>Tier 1, 2 &amp; 3 Indian cities</a:t>
            </a:r>
          </a:p>
          <a:p>
            <a:pPr algn="just" marL="518158" indent="-259079" lvl="1">
              <a:lnSpc>
                <a:spcPts val="3671"/>
              </a:lnSpc>
              <a:buFont typeface="Arial"/>
              <a:buChar char="•"/>
            </a:pPr>
            <a:r>
              <a:rPr lang="en-US" sz="2399">
                <a:solidFill>
                  <a:srgbClr val="FFFFFF"/>
                </a:solidFill>
                <a:latin typeface="Canva Sans"/>
                <a:ea typeface="Canva Sans"/>
                <a:cs typeface="Canva Sans"/>
                <a:sym typeface="Canva Sans"/>
              </a:rPr>
              <a:t>Entry-level Android users</a:t>
            </a:r>
          </a:p>
          <a:p>
            <a:pPr algn="just" marL="518158" indent="-259079" lvl="1">
              <a:lnSpc>
                <a:spcPts val="3671"/>
              </a:lnSpc>
              <a:buFont typeface="Arial"/>
              <a:buChar char="•"/>
            </a:pPr>
            <a:r>
              <a:rPr lang="en-US" sz="2399">
                <a:solidFill>
                  <a:srgbClr val="FFFFFF"/>
                </a:solidFill>
                <a:latin typeface="Canva Sans"/>
                <a:ea typeface="Canva Sans"/>
                <a:cs typeface="Canva Sans"/>
                <a:sym typeface="Canva Sans"/>
              </a:rPr>
              <a:t>Regional language speakers</a:t>
            </a:r>
          </a:p>
          <a:p>
            <a:pPr algn="just">
              <a:lnSpc>
                <a:spcPts val="3671"/>
              </a:lnSpc>
            </a:pPr>
          </a:p>
          <a:p>
            <a:pPr algn="just">
              <a:lnSpc>
                <a:spcPts val="3671"/>
              </a:lnSpc>
            </a:pPr>
            <a:r>
              <a:rPr lang="en-US" sz="2399" b="true">
                <a:solidFill>
                  <a:srgbClr val="FFFFFF"/>
                </a:solidFill>
                <a:latin typeface="Canva Sans Bold"/>
                <a:ea typeface="Canva Sans Bold"/>
                <a:cs typeface="Canva Sans Bold"/>
                <a:sym typeface="Canva Sans Bold"/>
              </a:rPr>
              <a:t>User Reality</a:t>
            </a:r>
          </a:p>
          <a:p>
            <a:pPr algn="just" marL="518158" indent="-259079" lvl="1">
              <a:lnSpc>
                <a:spcPts val="3671"/>
              </a:lnSpc>
              <a:buFont typeface="Arial"/>
              <a:buChar char="•"/>
            </a:pPr>
            <a:r>
              <a:rPr lang="en-US" sz="2399">
                <a:solidFill>
                  <a:srgbClr val="FFFFFF"/>
                </a:solidFill>
                <a:latin typeface="Canva Sans"/>
                <a:ea typeface="Canva Sans"/>
                <a:cs typeface="Canva Sans"/>
                <a:sym typeface="Canva Sans"/>
              </a:rPr>
              <a:t>Limited digital literacy</a:t>
            </a:r>
          </a:p>
          <a:p>
            <a:pPr algn="just" marL="518158" indent="-259079" lvl="1">
              <a:lnSpc>
                <a:spcPts val="3671"/>
              </a:lnSpc>
              <a:buFont typeface="Arial"/>
              <a:buChar char="•"/>
            </a:pPr>
            <a:r>
              <a:rPr lang="en-US" sz="2399">
                <a:solidFill>
                  <a:srgbClr val="FFFFFF"/>
                </a:solidFill>
                <a:latin typeface="Canva Sans"/>
                <a:ea typeface="Canva Sans"/>
                <a:cs typeface="Canva Sans"/>
                <a:sym typeface="Canva Sans"/>
              </a:rPr>
              <a:t>Low trust in online health content</a:t>
            </a:r>
          </a:p>
          <a:p>
            <a:pPr algn="just" marL="518158" indent="-259079" lvl="1">
              <a:lnSpc>
                <a:spcPts val="3671"/>
              </a:lnSpc>
              <a:buFont typeface="Arial"/>
              <a:buChar char="•"/>
            </a:pPr>
            <a:r>
              <a:rPr lang="en-US" sz="2399">
                <a:solidFill>
                  <a:srgbClr val="FFFFFF"/>
                </a:solidFill>
                <a:latin typeface="Canva Sans"/>
                <a:ea typeface="Canva Sans"/>
                <a:cs typeface="Canva Sans"/>
                <a:sym typeface="Canva Sans"/>
              </a:rPr>
              <a:t>Cost-sensitive decisions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bg_1.png"/>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16646" t="0" r="-16646" b="0"/>
            </a:stretch>
          </a:blipFill>
        </p:spPr>
      </p:sp>
      <p:sp>
        <p:nvSpPr>
          <p:cNvPr name="TextBox 3" id="3"/>
          <p:cNvSpPr txBox="true"/>
          <p:nvPr/>
        </p:nvSpPr>
        <p:spPr>
          <a:xfrm rot="0">
            <a:off x="942431" y="658292"/>
            <a:ext cx="7868738" cy="5925388"/>
          </a:xfrm>
          <a:prstGeom prst="rect">
            <a:avLst/>
          </a:prstGeom>
        </p:spPr>
        <p:txBody>
          <a:bodyPr anchor="t" rtlCol="false" tIns="0" lIns="0" bIns="0" rIns="0">
            <a:spAutoFit/>
          </a:bodyPr>
          <a:lstStyle/>
          <a:p>
            <a:pPr algn="just">
              <a:lnSpc>
                <a:spcPts val="4304"/>
              </a:lnSpc>
            </a:pPr>
            <a:r>
              <a:rPr lang="en-US" sz="3586">
                <a:solidFill>
                  <a:srgbClr val="FFFFFF"/>
                </a:solidFill>
                <a:latin typeface="Times New Roman MT"/>
                <a:ea typeface="Times New Roman MT"/>
                <a:cs typeface="Times New Roman MT"/>
                <a:sym typeface="Times New Roman MT"/>
              </a:rPr>
              <a:t>SOLUTION OVERVIEW</a:t>
            </a:r>
          </a:p>
          <a:p>
            <a:pPr algn="just">
              <a:lnSpc>
                <a:spcPts val="4304"/>
              </a:lnSpc>
            </a:pPr>
          </a:p>
          <a:p>
            <a:pPr algn="just">
              <a:lnSpc>
                <a:spcPts val="3823"/>
              </a:lnSpc>
            </a:pPr>
            <a:r>
              <a:rPr lang="en-US" sz="2498" b="true">
                <a:solidFill>
                  <a:srgbClr val="FFFFFF"/>
                </a:solidFill>
                <a:latin typeface="Canva Sans Bold"/>
                <a:ea typeface="Canva Sans Bold"/>
                <a:cs typeface="Canva Sans Bold"/>
                <a:sym typeface="Canva Sans Bold"/>
              </a:rPr>
              <a:t>Our Solution: Aarogya Sri</a:t>
            </a:r>
          </a:p>
          <a:p>
            <a:pPr algn="just" marL="539530" indent="-269765" lvl="1">
              <a:lnSpc>
                <a:spcPts val="3823"/>
              </a:lnSpc>
              <a:buFont typeface="Arial"/>
              <a:buChar char="•"/>
            </a:pPr>
            <a:r>
              <a:rPr lang="en-US" sz="2498">
                <a:solidFill>
                  <a:srgbClr val="FFFFFF"/>
                </a:solidFill>
                <a:latin typeface="Canva Sans"/>
                <a:ea typeface="Canva Sans"/>
                <a:cs typeface="Canva Sans"/>
                <a:sym typeface="Canva Sans"/>
              </a:rPr>
              <a:t>AI-powered health guidance</a:t>
            </a:r>
          </a:p>
          <a:p>
            <a:pPr algn="just" marL="539530" indent="-269765" lvl="1">
              <a:lnSpc>
                <a:spcPts val="3823"/>
              </a:lnSpc>
              <a:buFont typeface="Arial"/>
              <a:buChar char="•"/>
            </a:pPr>
            <a:r>
              <a:rPr lang="en-US" sz="2498">
                <a:solidFill>
                  <a:srgbClr val="FFFFFF"/>
                </a:solidFill>
                <a:latin typeface="Canva Sans"/>
                <a:ea typeface="Canva Sans"/>
                <a:cs typeface="Canva Sans"/>
                <a:sym typeface="Canva Sans"/>
              </a:rPr>
              <a:t>Voice + text interaction</a:t>
            </a:r>
          </a:p>
          <a:p>
            <a:pPr algn="just" marL="539530" indent="-269765" lvl="1">
              <a:lnSpc>
                <a:spcPts val="3823"/>
              </a:lnSpc>
              <a:buFont typeface="Arial"/>
              <a:buChar char="•"/>
            </a:pPr>
            <a:r>
              <a:rPr lang="en-US" sz="2498">
                <a:solidFill>
                  <a:srgbClr val="FFFFFF"/>
                </a:solidFill>
                <a:latin typeface="Canva Sans"/>
                <a:ea typeface="Canva Sans"/>
                <a:cs typeface="Canva Sans"/>
                <a:sym typeface="Canva Sans"/>
              </a:rPr>
              <a:t>Delivered in local Indian languages</a:t>
            </a:r>
          </a:p>
          <a:p>
            <a:pPr algn="just" marL="539530" indent="-269765" lvl="1">
              <a:lnSpc>
                <a:spcPts val="3823"/>
              </a:lnSpc>
              <a:buFont typeface="Arial"/>
              <a:buChar char="•"/>
            </a:pPr>
            <a:r>
              <a:rPr lang="en-US" sz="2498">
                <a:solidFill>
                  <a:srgbClr val="FFFFFF"/>
                </a:solidFill>
                <a:latin typeface="Canva Sans"/>
                <a:ea typeface="Canva Sans"/>
                <a:cs typeface="Canva Sans"/>
                <a:sym typeface="Canva Sans"/>
              </a:rPr>
              <a:t>Works on low internet connectivity</a:t>
            </a:r>
          </a:p>
          <a:p>
            <a:pPr algn="just">
              <a:lnSpc>
                <a:spcPts val="3823"/>
              </a:lnSpc>
            </a:pPr>
          </a:p>
          <a:p>
            <a:pPr algn="just">
              <a:lnSpc>
                <a:spcPts val="3823"/>
              </a:lnSpc>
            </a:pPr>
            <a:r>
              <a:rPr lang="en-US" sz="2498" b="true">
                <a:solidFill>
                  <a:srgbClr val="FFFFFF"/>
                </a:solidFill>
                <a:latin typeface="Canva Sans Bold"/>
                <a:ea typeface="Canva Sans Bold"/>
                <a:cs typeface="Canva Sans Bold"/>
                <a:sym typeface="Canva Sans Bold"/>
              </a:rPr>
              <a:t>What we DO</a:t>
            </a:r>
          </a:p>
          <a:p>
            <a:pPr algn="just" marL="539530" indent="-269765" lvl="1">
              <a:lnSpc>
                <a:spcPts val="3823"/>
              </a:lnSpc>
              <a:buFont typeface="Arial"/>
              <a:buChar char="•"/>
            </a:pPr>
            <a:r>
              <a:rPr lang="en-US" sz="2498">
                <a:solidFill>
                  <a:srgbClr val="FFFFFF"/>
                </a:solidFill>
                <a:latin typeface="Canva Sans"/>
                <a:ea typeface="Canva Sans"/>
                <a:cs typeface="Canva Sans"/>
                <a:sym typeface="Canva Sans"/>
              </a:rPr>
              <a:t>Education, awareness, prevention</a:t>
            </a:r>
          </a:p>
          <a:p>
            <a:pPr algn="just">
              <a:lnSpc>
                <a:spcPts val="3823"/>
              </a:lnSpc>
            </a:pPr>
            <a:r>
              <a:rPr lang="en-US" sz="2498" b="true">
                <a:solidFill>
                  <a:srgbClr val="FFFFFF"/>
                </a:solidFill>
                <a:latin typeface="Canva Sans Bold"/>
                <a:ea typeface="Canva Sans Bold"/>
                <a:cs typeface="Canva Sans Bold"/>
                <a:sym typeface="Canva Sans Bold"/>
              </a:rPr>
              <a:t>What we DON’T</a:t>
            </a:r>
          </a:p>
          <a:p>
            <a:pPr algn="just" marL="539530" indent="-269765" lvl="1">
              <a:lnSpc>
                <a:spcPts val="3823"/>
              </a:lnSpc>
              <a:buFont typeface="Arial"/>
              <a:buChar char="•"/>
            </a:pPr>
            <a:r>
              <a:rPr lang="en-US" sz="2498">
                <a:solidFill>
                  <a:srgbClr val="FFFFFF"/>
                </a:solidFill>
                <a:latin typeface="Canva Sans"/>
                <a:ea typeface="Canva Sans"/>
                <a:cs typeface="Canva Sans"/>
                <a:sym typeface="Canva Sans"/>
              </a:rPr>
              <a:t>Diagnosis, prescriptions, emergencies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bg_1.png"/>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16646" t="0" r="-16646" b="0"/>
            </a:stretch>
          </a:blipFill>
        </p:spPr>
      </p:sp>
      <p:sp>
        <p:nvSpPr>
          <p:cNvPr name="TextBox 3" id="3"/>
          <p:cNvSpPr txBox="true"/>
          <p:nvPr/>
        </p:nvSpPr>
        <p:spPr>
          <a:xfrm rot="0">
            <a:off x="891490" y="774573"/>
            <a:ext cx="7977104" cy="5594343"/>
          </a:xfrm>
          <a:prstGeom prst="rect">
            <a:avLst/>
          </a:prstGeom>
        </p:spPr>
        <p:txBody>
          <a:bodyPr anchor="t" rtlCol="false" tIns="0" lIns="0" bIns="0" rIns="0">
            <a:spAutoFit/>
          </a:bodyPr>
          <a:lstStyle/>
          <a:p>
            <a:pPr algn="just">
              <a:lnSpc>
                <a:spcPts val="4363"/>
              </a:lnSpc>
            </a:pPr>
            <a:r>
              <a:rPr lang="en-US" sz="3636">
                <a:solidFill>
                  <a:srgbClr val="FFFFFF"/>
                </a:solidFill>
                <a:latin typeface="Times New Roman MT"/>
                <a:ea typeface="Times New Roman MT"/>
                <a:cs typeface="Times New Roman MT"/>
                <a:sym typeface="Times New Roman MT"/>
              </a:rPr>
              <a:t>WHY THIS IS BETTER</a:t>
            </a:r>
          </a:p>
          <a:p>
            <a:pPr algn="just">
              <a:lnSpc>
                <a:spcPts val="4363"/>
              </a:lnSpc>
            </a:pPr>
          </a:p>
          <a:p>
            <a:pPr algn="just">
              <a:lnSpc>
                <a:spcPts val="3926"/>
              </a:lnSpc>
            </a:pPr>
            <a:r>
              <a:rPr lang="en-US" sz="2533" b="true">
                <a:solidFill>
                  <a:srgbClr val="FFFFFF"/>
                </a:solidFill>
                <a:latin typeface="Arial Bold"/>
                <a:ea typeface="Arial Bold"/>
                <a:cs typeface="Arial Bold"/>
                <a:sym typeface="Arial Bold"/>
              </a:rPr>
              <a:t>Compared to Alternatives:</a:t>
            </a:r>
          </a:p>
          <a:p>
            <a:pPr algn="just" marL="546961" indent="-273480" lvl="1">
              <a:lnSpc>
                <a:spcPts val="3926"/>
              </a:lnSpc>
              <a:buFont typeface="Arial"/>
              <a:buChar char="•"/>
            </a:pPr>
            <a:r>
              <a:rPr lang="en-US" sz="2533">
                <a:solidFill>
                  <a:srgbClr val="FFFFFF"/>
                </a:solidFill>
                <a:latin typeface="Arial"/>
                <a:ea typeface="Arial"/>
                <a:cs typeface="Arial"/>
                <a:sym typeface="Arial"/>
              </a:rPr>
              <a:t>Google → Generic &amp; English-heavy</a:t>
            </a:r>
          </a:p>
          <a:p>
            <a:pPr algn="just" marL="546961" indent="-273480" lvl="1">
              <a:lnSpc>
                <a:spcPts val="3926"/>
              </a:lnSpc>
              <a:buFont typeface="Arial"/>
              <a:buChar char="•"/>
            </a:pPr>
            <a:r>
              <a:rPr lang="en-US" sz="2533">
                <a:solidFill>
                  <a:srgbClr val="FFFFFF"/>
                </a:solidFill>
                <a:latin typeface="Arial"/>
                <a:ea typeface="Arial"/>
                <a:cs typeface="Arial"/>
                <a:sym typeface="Arial"/>
              </a:rPr>
              <a:t>YouTube → Unverified &amp; risky</a:t>
            </a:r>
          </a:p>
          <a:p>
            <a:pPr algn="just" marL="546961" indent="-273480" lvl="1">
              <a:lnSpc>
                <a:spcPts val="3926"/>
              </a:lnSpc>
              <a:buFont typeface="Arial"/>
              <a:buChar char="•"/>
            </a:pPr>
            <a:r>
              <a:rPr lang="en-US" sz="2533">
                <a:solidFill>
                  <a:srgbClr val="FFFFFF"/>
                </a:solidFill>
                <a:latin typeface="Arial"/>
                <a:ea typeface="Arial"/>
                <a:cs typeface="Arial"/>
                <a:sym typeface="Arial"/>
              </a:rPr>
              <a:t>Hospitals → Costly &amp; time-consuming</a:t>
            </a:r>
          </a:p>
          <a:p>
            <a:pPr algn="just">
              <a:lnSpc>
                <a:spcPts val="3926"/>
              </a:lnSpc>
            </a:pPr>
          </a:p>
          <a:p>
            <a:pPr algn="just">
              <a:lnSpc>
                <a:spcPts val="3926"/>
              </a:lnSpc>
            </a:pPr>
            <a:r>
              <a:rPr lang="en-US" sz="2533" b="true">
                <a:solidFill>
                  <a:srgbClr val="FFFFFF"/>
                </a:solidFill>
                <a:latin typeface="Arial Bold"/>
                <a:ea typeface="Arial Bold"/>
                <a:cs typeface="Arial Bold"/>
                <a:sym typeface="Arial Bold"/>
              </a:rPr>
              <a:t>Aarogya Sri Advantage:</a:t>
            </a:r>
          </a:p>
          <a:p>
            <a:pPr algn="just" marL="546961" indent="-273480" lvl="1">
              <a:lnSpc>
                <a:spcPts val="3926"/>
              </a:lnSpc>
              <a:buFont typeface="Arial"/>
              <a:buChar char="•"/>
            </a:pPr>
            <a:r>
              <a:rPr lang="en-US" sz="2533">
                <a:solidFill>
                  <a:srgbClr val="FFFFFF"/>
                </a:solidFill>
                <a:latin typeface="Arial"/>
                <a:ea typeface="Arial"/>
                <a:cs typeface="Arial"/>
                <a:sym typeface="Arial"/>
              </a:rPr>
              <a:t>Language-first design</a:t>
            </a:r>
          </a:p>
          <a:p>
            <a:pPr algn="just" marL="546961" indent="-273480" lvl="1">
              <a:lnSpc>
                <a:spcPts val="3926"/>
              </a:lnSpc>
              <a:buFont typeface="Arial"/>
              <a:buChar char="•"/>
            </a:pPr>
            <a:r>
              <a:rPr lang="en-US" sz="2533">
                <a:solidFill>
                  <a:srgbClr val="FFFFFF"/>
                </a:solidFill>
                <a:latin typeface="Arial"/>
                <a:ea typeface="Arial"/>
                <a:cs typeface="Arial"/>
                <a:sym typeface="Arial"/>
              </a:rPr>
              <a:t>Verified, safety-bounded AI</a:t>
            </a:r>
          </a:p>
          <a:p>
            <a:pPr algn="just" marL="546961" indent="-273480" lvl="1">
              <a:lnSpc>
                <a:spcPts val="3926"/>
              </a:lnSpc>
              <a:buFont typeface="Arial"/>
              <a:buChar char="•"/>
            </a:pPr>
            <a:r>
              <a:rPr lang="en-US" sz="2533">
                <a:solidFill>
                  <a:srgbClr val="FFFFFF"/>
                </a:solidFill>
                <a:latin typeface="Arial"/>
                <a:ea typeface="Arial"/>
                <a:cs typeface="Arial"/>
                <a:sym typeface="Arial"/>
              </a:rPr>
              <a:t>Conversational &amp; accessible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bg_1.png"/>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16646" t="0" r="-16646" b="0"/>
            </a:stretch>
          </a:blipFill>
        </p:spPr>
      </p:sp>
      <p:sp>
        <p:nvSpPr>
          <p:cNvPr name="TextBox 3" id="3"/>
          <p:cNvSpPr txBox="true"/>
          <p:nvPr/>
        </p:nvSpPr>
        <p:spPr>
          <a:xfrm rot="0">
            <a:off x="570703" y="977562"/>
            <a:ext cx="9024395" cy="4849947"/>
          </a:xfrm>
          <a:prstGeom prst="rect">
            <a:avLst/>
          </a:prstGeom>
        </p:spPr>
        <p:txBody>
          <a:bodyPr anchor="t" rtlCol="false" tIns="0" lIns="0" bIns="0" rIns="0">
            <a:spAutoFit/>
          </a:bodyPr>
          <a:lstStyle/>
          <a:p>
            <a:pPr algn="l">
              <a:lnSpc>
                <a:spcPts val="4761"/>
              </a:lnSpc>
            </a:pPr>
            <a:r>
              <a:rPr lang="en-US" sz="3967" b="true">
                <a:solidFill>
                  <a:srgbClr val="FFFFFF"/>
                </a:solidFill>
                <a:latin typeface="Times New Roman MT Bold"/>
                <a:ea typeface="Times New Roman MT Bold"/>
                <a:cs typeface="Times New Roman MT Bold"/>
                <a:sym typeface="Times New Roman MT Bold"/>
              </a:rPr>
              <a:t>VALUE PROPOSITION</a:t>
            </a:r>
          </a:p>
          <a:p>
            <a:pPr algn="l">
              <a:lnSpc>
                <a:spcPts val="4761"/>
              </a:lnSpc>
            </a:pPr>
          </a:p>
          <a:p>
            <a:pPr algn="l">
              <a:lnSpc>
                <a:spcPts val="4162"/>
              </a:lnSpc>
            </a:pPr>
            <a:r>
              <a:rPr lang="en-US" sz="2720">
                <a:solidFill>
                  <a:srgbClr val="FFFFFF"/>
                </a:solidFill>
                <a:latin typeface="Canva Sans"/>
                <a:ea typeface="Canva Sans"/>
                <a:cs typeface="Canva Sans"/>
                <a:sym typeface="Canva Sans"/>
              </a:rPr>
              <a:t>One-Line Value Proposition:</a:t>
            </a:r>
          </a:p>
          <a:p>
            <a:pPr algn="l">
              <a:lnSpc>
                <a:spcPts val="4162"/>
              </a:lnSpc>
            </a:pPr>
            <a:r>
              <a:rPr lang="en-US" sz="2720">
                <a:solidFill>
                  <a:srgbClr val="FFFFFF"/>
                </a:solidFill>
                <a:latin typeface="Canva Sans"/>
                <a:ea typeface="Canva Sans"/>
                <a:cs typeface="Canva Sans"/>
                <a:sym typeface="Canva Sans"/>
              </a:rPr>
              <a:t>“Aarogya Sri provides trusted health guidance in local languages using AI, anytime and anywhere.”</a:t>
            </a:r>
          </a:p>
          <a:p>
            <a:pPr algn="l" marL="587310" indent="-293655" lvl="1">
              <a:lnSpc>
                <a:spcPts val="4162"/>
              </a:lnSpc>
              <a:buFont typeface="Arial"/>
              <a:buChar char="•"/>
            </a:pPr>
            <a:r>
              <a:rPr lang="en-US" sz="2720">
                <a:solidFill>
                  <a:srgbClr val="FFFFFF"/>
                </a:solidFill>
                <a:latin typeface="Canva Sans"/>
                <a:ea typeface="Canva Sans"/>
                <a:cs typeface="Canva Sans"/>
                <a:sym typeface="Canva Sans"/>
              </a:rPr>
              <a:t>User Value Delivered</a:t>
            </a:r>
          </a:p>
          <a:p>
            <a:pPr algn="l" marL="587310" indent="-293655" lvl="1">
              <a:lnSpc>
                <a:spcPts val="4162"/>
              </a:lnSpc>
              <a:buFont typeface="Arial"/>
              <a:buChar char="•"/>
            </a:pPr>
            <a:r>
              <a:rPr lang="en-US" sz="2720">
                <a:solidFill>
                  <a:srgbClr val="FFFFFF"/>
                </a:solidFill>
                <a:latin typeface="Canva Sans"/>
                <a:ea typeface="Canva Sans"/>
                <a:cs typeface="Canva Sans"/>
                <a:sym typeface="Canva Sans"/>
              </a:rPr>
              <a:t>Clarity instead of confusion</a:t>
            </a:r>
          </a:p>
          <a:p>
            <a:pPr algn="l" marL="587310" indent="-293655" lvl="1">
              <a:lnSpc>
                <a:spcPts val="4162"/>
              </a:lnSpc>
              <a:buFont typeface="Arial"/>
              <a:buChar char="•"/>
            </a:pPr>
            <a:r>
              <a:rPr lang="en-US" sz="2720">
                <a:solidFill>
                  <a:srgbClr val="FFFFFF"/>
                </a:solidFill>
                <a:latin typeface="Canva Sans"/>
                <a:ea typeface="Canva Sans"/>
                <a:cs typeface="Canva Sans"/>
                <a:sym typeface="Canva Sans"/>
              </a:rPr>
              <a:t>Trust instead of misinformation</a:t>
            </a:r>
          </a:p>
          <a:p>
            <a:pPr algn="l" marL="587310" indent="-293655" lvl="1">
              <a:lnSpc>
                <a:spcPts val="4162"/>
              </a:lnSpc>
              <a:buFont typeface="Arial"/>
              <a:buChar char="•"/>
            </a:pPr>
            <a:r>
              <a:rPr lang="en-US" sz="2720">
                <a:solidFill>
                  <a:srgbClr val="FFFFFF"/>
                </a:solidFill>
                <a:latin typeface="Canva Sans"/>
                <a:ea typeface="Canva Sans"/>
                <a:cs typeface="Canva Sans"/>
                <a:sym typeface="Canva Sans"/>
              </a:rPr>
              <a:t>Guidance instead of anxiety</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bg_1.png"/>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16646" t="0" r="-16646" b="0"/>
            </a:stretch>
          </a:blipFill>
        </p:spPr>
      </p:sp>
      <p:sp>
        <p:nvSpPr>
          <p:cNvPr name="TextBox 3" id="3"/>
          <p:cNvSpPr txBox="true"/>
          <p:nvPr/>
        </p:nvSpPr>
        <p:spPr>
          <a:xfrm rot="0">
            <a:off x="907427" y="847099"/>
            <a:ext cx="8582305" cy="4679790"/>
          </a:xfrm>
          <a:prstGeom prst="rect">
            <a:avLst/>
          </a:prstGeom>
        </p:spPr>
        <p:txBody>
          <a:bodyPr anchor="t" rtlCol="false" tIns="0" lIns="0" bIns="0" rIns="0">
            <a:spAutoFit/>
          </a:bodyPr>
          <a:lstStyle/>
          <a:p>
            <a:pPr algn="l">
              <a:lnSpc>
                <a:spcPts val="4964"/>
              </a:lnSpc>
            </a:pPr>
            <a:r>
              <a:rPr lang="en-US" sz="4137" b="true">
                <a:solidFill>
                  <a:srgbClr val="FFFFFF"/>
                </a:solidFill>
                <a:latin typeface="Times New Roman MT Bold"/>
                <a:ea typeface="Times New Roman MT Bold"/>
                <a:cs typeface="Times New Roman MT Bold"/>
                <a:sym typeface="Times New Roman MT Bold"/>
              </a:rPr>
              <a:t>MVP USER FLOW</a:t>
            </a:r>
          </a:p>
          <a:p>
            <a:pPr algn="l">
              <a:lnSpc>
                <a:spcPts val="4964"/>
              </a:lnSpc>
            </a:pPr>
          </a:p>
          <a:p>
            <a:pPr algn="l">
              <a:lnSpc>
                <a:spcPts val="4514"/>
              </a:lnSpc>
            </a:pPr>
            <a:r>
              <a:rPr lang="en-US" sz="2950">
                <a:solidFill>
                  <a:srgbClr val="FFFFFF"/>
                </a:solidFill>
                <a:latin typeface="Canva Sans"/>
                <a:ea typeface="Canva Sans"/>
                <a:cs typeface="Canva Sans"/>
                <a:sym typeface="Canva Sans"/>
              </a:rPr>
              <a:t>User Journey</a:t>
            </a:r>
          </a:p>
          <a:p>
            <a:pPr algn="l">
              <a:lnSpc>
                <a:spcPts val="4514"/>
              </a:lnSpc>
            </a:pPr>
            <a:r>
              <a:rPr lang="en-US" sz="2950">
                <a:solidFill>
                  <a:srgbClr val="FFFFFF"/>
                </a:solidFill>
                <a:latin typeface="Canva Sans"/>
                <a:ea typeface="Canva Sans"/>
                <a:cs typeface="Canva Sans"/>
                <a:sym typeface="Canva Sans"/>
              </a:rPr>
              <a:t>1.Select preferred language</a:t>
            </a:r>
          </a:p>
          <a:p>
            <a:pPr algn="l">
              <a:lnSpc>
                <a:spcPts val="4514"/>
              </a:lnSpc>
            </a:pPr>
            <a:r>
              <a:rPr lang="en-US" sz="2950">
                <a:solidFill>
                  <a:srgbClr val="FFFFFF"/>
                </a:solidFill>
                <a:latin typeface="Canva Sans"/>
                <a:ea typeface="Canva Sans"/>
                <a:cs typeface="Canva Sans"/>
                <a:sym typeface="Canva Sans"/>
              </a:rPr>
              <a:t>2.Ask health query (voice/text)</a:t>
            </a:r>
          </a:p>
          <a:p>
            <a:pPr algn="l">
              <a:lnSpc>
                <a:spcPts val="4514"/>
              </a:lnSpc>
            </a:pPr>
            <a:r>
              <a:rPr lang="en-US" sz="2950">
                <a:solidFill>
                  <a:srgbClr val="FFFFFF"/>
                </a:solidFill>
                <a:latin typeface="Canva Sans"/>
                <a:ea typeface="Canva Sans"/>
                <a:cs typeface="Canva Sans"/>
                <a:sym typeface="Canva Sans"/>
              </a:rPr>
              <a:t>3.AI asks clarifying questions</a:t>
            </a:r>
          </a:p>
          <a:p>
            <a:pPr algn="l">
              <a:lnSpc>
                <a:spcPts val="4514"/>
              </a:lnSpc>
            </a:pPr>
            <a:r>
              <a:rPr lang="en-US" sz="2950">
                <a:solidFill>
                  <a:srgbClr val="FFFFFF"/>
                </a:solidFill>
                <a:latin typeface="Canva Sans"/>
                <a:ea typeface="Canva Sans"/>
                <a:cs typeface="Canva Sans"/>
                <a:sym typeface="Canva Sans"/>
              </a:rPr>
              <a:t>4.Verified guidance is provided</a:t>
            </a:r>
          </a:p>
          <a:p>
            <a:pPr algn="l">
              <a:lnSpc>
                <a:spcPts val="4514"/>
              </a:lnSpc>
            </a:pPr>
            <a:r>
              <a:rPr lang="en-US" sz="2950">
                <a:solidFill>
                  <a:srgbClr val="FFFFFF"/>
                </a:solidFill>
                <a:latin typeface="Canva Sans"/>
                <a:ea typeface="Canva Sans"/>
                <a:cs typeface="Canva Sans"/>
                <a:sym typeface="Canva Sans"/>
              </a:rPr>
              <a:t>5.Next steps suggested</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bg_1.png"/>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16646" t="0" r="-16646" b="0"/>
            </a:stretch>
          </a:blipFill>
        </p:spPr>
      </p:sp>
      <p:sp>
        <p:nvSpPr>
          <p:cNvPr name="TextBox 3" id="3"/>
          <p:cNvSpPr txBox="true"/>
          <p:nvPr/>
        </p:nvSpPr>
        <p:spPr>
          <a:xfrm rot="0">
            <a:off x="1066800" y="914299"/>
            <a:ext cx="7620000" cy="5669381"/>
          </a:xfrm>
          <a:prstGeom prst="rect">
            <a:avLst/>
          </a:prstGeom>
        </p:spPr>
        <p:txBody>
          <a:bodyPr anchor="t" rtlCol="false" tIns="0" lIns="0" bIns="0" rIns="0">
            <a:spAutoFit/>
          </a:bodyPr>
          <a:lstStyle/>
          <a:p>
            <a:pPr algn="l">
              <a:lnSpc>
                <a:spcPts val="4407"/>
              </a:lnSpc>
            </a:pPr>
            <a:r>
              <a:rPr lang="en-US" sz="3673" b="true">
                <a:solidFill>
                  <a:srgbClr val="FFFFFF"/>
                </a:solidFill>
                <a:latin typeface="Times New Roman MT Bold"/>
                <a:ea typeface="Times New Roman MT Bold"/>
                <a:cs typeface="Times New Roman MT Bold"/>
                <a:sym typeface="Times New Roman MT Bold"/>
              </a:rPr>
              <a:t>INFORMATION ARCHITECTURE</a:t>
            </a:r>
          </a:p>
          <a:p>
            <a:pPr algn="l">
              <a:lnSpc>
                <a:spcPts val="4407"/>
              </a:lnSpc>
            </a:pPr>
          </a:p>
          <a:p>
            <a:pPr algn="l">
              <a:lnSpc>
                <a:spcPts val="4008"/>
              </a:lnSpc>
            </a:pPr>
            <a:r>
              <a:rPr lang="en-US" sz="2619" b="true">
                <a:solidFill>
                  <a:srgbClr val="FFFFFF"/>
                </a:solidFill>
                <a:latin typeface="Arial Bold"/>
                <a:ea typeface="Arial Bold"/>
                <a:cs typeface="Arial Bold"/>
                <a:sym typeface="Arial Bold"/>
              </a:rPr>
              <a:t>The Information Architecture of the health chatbot organizes all features clearly so users can navigate easily. The user journey starts by selecting a preferred language. Then the user asks a health query using voice or text. The AI assistant asks clarifying questions to better understand the problem. After that, verified health guidance is provided. Finally, the app suggests the next steps for the user.</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bg_1.png"/>
          <p:cNvSpPr/>
          <p:nvPr/>
        </p:nvSpPr>
        <p:spPr>
          <a:xfrm flipH="false" flipV="false" rot="0">
            <a:off x="-15147"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16646" t="0" r="-16646" b="0"/>
            </a:stretch>
          </a:blipFill>
        </p:spPr>
      </p:sp>
      <p:sp>
        <p:nvSpPr>
          <p:cNvPr name="TextBox 3" id="3"/>
          <p:cNvSpPr txBox="true"/>
          <p:nvPr/>
        </p:nvSpPr>
        <p:spPr>
          <a:xfrm rot="0">
            <a:off x="1066800" y="1079856"/>
            <a:ext cx="7620000" cy="552450"/>
          </a:xfrm>
          <a:prstGeom prst="rect">
            <a:avLst/>
          </a:prstGeom>
        </p:spPr>
        <p:txBody>
          <a:bodyPr anchor="t" rtlCol="false" tIns="0" lIns="0" bIns="0" rIns="0">
            <a:spAutoFit/>
          </a:bodyPr>
          <a:lstStyle/>
          <a:p>
            <a:pPr algn="just">
              <a:lnSpc>
                <a:spcPts val="3807"/>
              </a:lnSpc>
            </a:pPr>
            <a:r>
              <a:rPr lang="en-US" sz="3173" b="true">
                <a:solidFill>
                  <a:srgbClr val="FFFFFF"/>
                </a:solidFill>
                <a:latin typeface="Times New Roman MT Bold"/>
                <a:ea typeface="Times New Roman MT Bold"/>
                <a:cs typeface="Times New Roman MT Bold"/>
                <a:sym typeface="Times New Roman MT Bold"/>
              </a:rPr>
              <a:t>AI CAPABILITIES &amp; SAFETY</a:t>
            </a:r>
          </a:p>
        </p:txBody>
      </p:sp>
      <p:sp>
        <p:nvSpPr>
          <p:cNvPr name="TextBox 4" id="4"/>
          <p:cNvSpPr txBox="true"/>
          <p:nvPr/>
        </p:nvSpPr>
        <p:spPr>
          <a:xfrm rot="0">
            <a:off x="4861653" y="3429000"/>
            <a:ext cx="9525" cy="438150"/>
          </a:xfrm>
          <a:prstGeom prst="rect">
            <a:avLst/>
          </a:prstGeom>
        </p:spPr>
        <p:txBody>
          <a:bodyPr anchor="t" rtlCol="false" tIns="0" lIns="0" bIns="0" rIns="0">
            <a:spAutoFit/>
          </a:bodyPr>
          <a:lstStyle/>
          <a:p>
            <a:pPr algn="ctr">
              <a:lnSpc>
                <a:spcPts val="3328"/>
              </a:lnSpc>
              <a:spcBef>
                <a:spcPct val="0"/>
              </a:spcBef>
            </a:pPr>
          </a:p>
        </p:txBody>
      </p:sp>
      <p:sp>
        <p:nvSpPr>
          <p:cNvPr name="TextBox 5" id="5"/>
          <p:cNvSpPr txBox="true"/>
          <p:nvPr/>
        </p:nvSpPr>
        <p:spPr>
          <a:xfrm rot="0">
            <a:off x="1066800" y="2038382"/>
            <a:ext cx="8170218" cy="4319588"/>
          </a:xfrm>
          <a:prstGeom prst="rect">
            <a:avLst/>
          </a:prstGeom>
        </p:spPr>
        <p:txBody>
          <a:bodyPr anchor="t" rtlCol="false" tIns="0" lIns="0" bIns="0" rIns="0">
            <a:spAutoFit/>
          </a:bodyPr>
          <a:lstStyle/>
          <a:p>
            <a:pPr algn="l">
              <a:lnSpc>
                <a:spcPts val="3824"/>
              </a:lnSpc>
            </a:pPr>
            <a:r>
              <a:rPr lang="en-US" sz="2499">
                <a:solidFill>
                  <a:srgbClr val="FFFFFF"/>
                </a:solidFill>
                <a:latin typeface="Canva Sans"/>
                <a:ea typeface="Canva Sans"/>
                <a:cs typeface="Canva Sans"/>
                <a:sym typeface="Canva Sans"/>
              </a:rPr>
              <a:t>AarogyaSri AI</a:t>
            </a:r>
          </a:p>
          <a:p>
            <a:pPr algn="l">
              <a:lnSpc>
                <a:spcPts val="3824"/>
              </a:lnSpc>
            </a:pPr>
            <a:r>
              <a:rPr lang="en-US" sz="2499">
                <a:solidFill>
                  <a:srgbClr val="FFFFFF"/>
                </a:solidFill>
                <a:latin typeface="Canva Sans"/>
                <a:ea typeface="Canva Sans"/>
                <a:cs typeface="Canva Sans"/>
                <a:sym typeface="Canva Sans"/>
              </a:rPr>
              <a:t>•M</a:t>
            </a:r>
            <a:r>
              <a:rPr lang="en-US" sz="2499">
                <a:solidFill>
                  <a:srgbClr val="FFFFFF"/>
                </a:solidFill>
                <a:latin typeface="Canva Sans"/>
                <a:ea typeface="Canva Sans"/>
                <a:cs typeface="Canva Sans"/>
                <a:sym typeface="Canva Sans"/>
              </a:rPr>
              <a:t>ultilingual Trusted Health Information Assistant</a:t>
            </a:r>
          </a:p>
          <a:p>
            <a:pPr algn="l">
              <a:lnSpc>
                <a:spcPts val="3824"/>
              </a:lnSpc>
            </a:pPr>
            <a:r>
              <a:rPr lang="en-US" sz="2499">
                <a:solidFill>
                  <a:srgbClr val="FFFFFF"/>
                </a:solidFill>
                <a:latin typeface="Canva Sans"/>
                <a:ea typeface="Canva Sans"/>
                <a:cs typeface="Canva Sans"/>
                <a:sym typeface="Canva Sans"/>
              </a:rPr>
              <a:t> </a:t>
            </a:r>
          </a:p>
          <a:p>
            <a:pPr algn="l">
              <a:lnSpc>
                <a:spcPts val="3824"/>
              </a:lnSpc>
            </a:pPr>
            <a:r>
              <a:rPr lang="en-US" sz="2499">
                <a:solidFill>
                  <a:srgbClr val="FFFFFF"/>
                </a:solidFill>
                <a:latin typeface="Canva Sans"/>
                <a:ea typeface="Canva Sans"/>
                <a:cs typeface="Canva Sans"/>
                <a:sym typeface="Canva Sans"/>
              </a:rPr>
              <a:t>•Role of AI:</a:t>
            </a:r>
          </a:p>
          <a:p>
            <a:pPr algn="l">
              <a:lnSpc>
                <a:spcPts val="3824"/>
              </a:lnSpc>
            </a:pPr>
            <a:r>
              <a:rPr lang="en-US" sz="2499">
                <a:solidFill>
                  <a:srgbClr val="FFFFFF"/>
                </a:solidFill>
                <a:latin typeface="Canva Sans"/>
                <a:ea typeface="Canva Sans"/>
                <a:cs typeface="Canva Sans"/>
                <a:sym typeface="Canva Sans"/>
              </a:rPr>
              <a:t>•• Enable trusted health access for underserved users</a:t>
            </a:r>
          </a:p>
          <a:p>
            <a:pPr algn="l">
              <a:lnSpc>
                <a:spcPts val="3824"/>
              </a:lnSpc>
            </a:pPr>
            <a:r>
              <a:rPr lang="en-US" sz="2499">
                <a:solidFill>
                  <a:srgbClr val="FFFFFF"/>
                </a:solidFill>
                <a:latin typeface="Canva Sans"/>
                <a:ea typeface="Canva Sans"/>
                <a:cs typeface="Canva Sans"/>
                <a:sym typeface="Canva Sans"/>
              </a:rPr>
              <a:t>•• Remove language &amp; accessibility barriers</a:t>
            </a:r>
          </a:p>
          <a:p>
            <a:pPr algn="l">
              <a:lnSpc>
                <a:spcPts val="3824"/>
              </a:lnSpc>
            </a:pPr>
            <a:r>
              <a:rPr lang="en-US" sz="2499">
                <a:solidFill>
                  <a:srgbClr val="FFFFFF"/>
                </a:solidFill>
                <a:latin typeface="Canva Sans"/>
                <a:ea typeface="Canva Sans"/>
                <a:cs typeface="Canva Sans"/>
                <a:sym typeface="Canva Sans"/>
              </a:rPr>
              <a:t>•• Act as a 24x7 digital health companion</a:t>
            </a:r>
          </a:p>
          <a:p>
            <a:pPr algn="l">
              <a:lnSpc>
                <a:spcPts val="3824"/>
              </a:lnSpc>
            </a:pPr>
            <a:r>
              <a:rPr lang="en-US" sz="2499">
                <a:solidFill>
                  <a:srgbClr val="FFFFFF"/>
                </a:solidFill>
                <a:latin typeface="Canva Sans"/>
                <a:ea typeface="Canva Sans"/>
                <a:cs typeface="Canva Sans"/>
                <a:sym typeface="Canva Sans"/>
              </a:rPr>
              <a:t>•• Support preventive care and early risk</a:t>
            </a:r>
          </a:p>
          <a:p>
            <a:pPr algn="ctr">
              <a:lnSpc>
                <a:spcPts val="3807"/>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bg_1.png"/>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16646" t="0" r="-16646" b="0"/>
            </a:stretch>
          </a:blipFill>
        </p:spPr>
      </p:sp>
      <p:sp>
        <p:nvSpPr>
          <p:cNvPr name="TextBox 3" id="3"/>
          <p:cNvSpPr txBox="true"/>
          <p:nvPr/>
        </p:nvSpPr>
        <p:spPr>
          <a:xfrm rot="0">
            <a:off x="1074842" y="1157136"/>
            <a:ext cx="7798902" cy="4500834"/>
          </a:xfrm>
          <a:prstGeom prst="rect">
            <a:avLst/>
          </a:prstGeom>
        </p:spPr>
        <p:txBody>
          <a:bodyPr anchor="t" rtlCol="false" tIns="0" lIns="0" bIns="0" rIns="0">
            <a:spAutoFit/>
          </a:bodyPr>
          <a:lstStyle/>
          <a:p>
            <a:pPr algn="l">
              <a:lnSpc>
                <a:spcPts val="5286"/>
              </a:lnSpc>
            </a:pPr>
            <a:r>
              <a:rPr lang="en-US" sz="4405" b="true">
                <a:solidFill>
                  <a:srgbClr val="FFFFFF"/>
                </a:solidFill>
                <a:latin typeface="Times New Roman MT Bold"/>
                <a:ea typeface="Times New Roman MT Bold"/>
                <a:cs typeface="Times New Roman MT Bold"/>
                <a:sym typeface="Times New Roman MT Bold"/>
              </a:rPr>
              <a:t>Key AI Use Cases</a:t>
            </a:r>
          </a:p>
          <a:p>
            <a:pPr algn="l">
              <a:lnSpc>
                <a:spcPts val="5286"/>
              </a:lnSpc>
            </a:pPr>
          </a:p>
          <a:p>
            <a:pPr algn="l">
              <a:lnSpc>
                <a:spcPts val="4954"/>
              </a:lnSpc>
            </a:pPr>
            <a:r>
              <a:rPr lang="en-US" sz="3238">
                <a:solidFill>
                  <a:srgbClr val="FFFFFF"/>
                </a:solidFill>
                <a:latin typeface="Canva Sans"/>
                <a:ea typeface="Canva Sans"/>
                <a:cs typeface="Canva Sans"/>
                <a:sym typeface="Canva Sans"/>
              </a:rPr>
              <a:t>•• Multiling</a:t>
            </a:r>
            <a:r>
              <a:rPr lang="en-US" sz="3238">
                <a:solidFill>
                  <a:srgbClr val="FFFFFF"/>
                </a:solidFill>
                <a:latin typeface="Canva Sans"/>
                <a:ea typeface="Canva Sans"/>
                <a:cs typeface="Canva Sans"/>
                <a:sym typeface="Canva Sans"/>
              </a:rPr>
              <a:t>ual Health Q&amp;A (voice &amp; text)</a:t>
            </a:r>
          </a:p>
          <a:p>
            <a:pPr algn="l">
              <a:lnSpc>
                <a:spcPts val="4954"/>
              </a:lnSpc>
            </a:pPr>
            <a:r>
              <a:rPr lang="en-US" sz="3238">
                <a:solidFill>
                  <a:srgbClr val="FFFFFF"/>
                </a:solidFill>
                <a:latin typeface="Canva Sans"/>
                <a:ea typeface="Canva Sans"/>
                <a:cs typeface="Canva Sans"/>
                <a:sym typeface="Canva Sans"/>
              </a:rPr>
              <a:t>•• Personalized daily health tips</a:t>
            </a:r>
          </a:p>
          <a:p>
            <a:pPr algn="l">
              <a:lnSpc>
                <a:spcPts val="4954"/>
              </a:lnSpc>
            </a:pPr>
            <a:r>
              <a:rPr lang="en-US" sz="3238">
                <a:solidFill>
                  <a:srgbClr val="FFFFFF"/>
                </a:solidFill>
                <a:latin typeface="Canva Sans"/>
                <a:ea typeface="Canva Sans"/>
                <a:cs typeface="Canva Sans"/>
                <a:sym typeface="Canva Sans"/>
              </a:rPr>
              <a:t>•• Wearable data insights (MVP+)</a:t>
            </a:r>
          </a:p>
          <a:p>
            <a:pPr algn="l">
              <a:lnSpc>
                <a:spcPts val="4954"/>
              </a:lnSpc>
            </a:pPr>
            <a:r>
              <a:rPr lang="en-US" sz="3238">
                <a:solidFill>
                  <a:srgbClr val="FFFFFF"/>
                </a:solidFill>
                <a:latin typeface="Canva Sans"/>
                <a:ea typeface="Canva Sans"/>
                <a:cs typeface="Canva Sans"/>
                <a:sym typeface="Canva Sans"/>
              </a:rPr>
              <a:t>•• Smart triage and nurse escalation</a:t>
            </a:r>
          </a:p>
          <a:p>
            <a:pPr algn="ctr">
              <a:lnSpc>
                <a:spcPts val="4726"/>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bg_1.png"/>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16646" t="0" r="-16646" b="0"/>
            </a:stretch>
          </a:blipFill>
        </p:spPr>
      </p:sp>
      <p:sp>
        <p:nvSpPr>
          <p:cNvPr name="TextBox 3" id="3"/>
          <p:cNvSpPr txBox="true"/>
          <p:nvPr/>
        </p:nvSpPr>
        <p:spPr>
          <a:xfrm rot="0">
            <a:off x="4872038" y="3429000"/>
            <a:ext cx="9525" cy="438150"/>
          </a:xfrm>
          <a:prstGeom prst="rect">
            <a:avLst/>
          </a:prstGeom>
        </p:spPr>
        <p:txBody>
          <a:bodyPr anchor="t" rtlCol="false" tIns="0" lIns="0" bIns="0" rIns="0">
            <a:spAutoFit/>
          </a:bodyPr>
          <a:lstStyle/>
          <a:p>
            <a:pPr algn="ctr">
              <a:lnSpc>
                <a:spcPts val="3328"/>
              </a:lnSpc>
              <a:spcBef>
                <a:spcPct val="0"/>
              </a:spcBef>
            </a:pPr>
          </a:p>
        </p:txBody>
      </p:sp>
      <p:sp>
        <p:nvSpPr>
          <p:cNvPr name="TextBox 4" id="4"/>
          <p:cNvSpPr txBox="true"/>
          <p:nvPr/>
        </p:nvSpPr>
        <p:spPr>
          <a:xfrm rot="0">
            <a:off x="4872038" y="4704680"/>
            <a:ext cx="9525" cy="438150"/>
          </a:xfrm>
          <a:prstGeom prst="rect">
            <a:avLst/>
          </a:prstGeom>
        </p:spPr>
        <p:txBody>
          <a:bodyPr anchor="t" rtlCol="false" tIns="0" lIns="0" bIns="0" rIns="0">
            <a:spAutoFit/>
          </a:bodyPr>
          <a:lstStyle/>
          <a:p>
            <a:pPr algn="ctr">
              <a:lnSpc>
                <a:spcPts val="3328"/>
              </a:lnSpc>
              <a:spcBef>
                <a:spcPct val="0"/>
              </a:spcBef>
            </a:pPr>
          </a:p>
        </p:txBody>
      </p:sp>
      <p:sp>
        <p:nvSpPr>
          <p:cNvPr name="TextBox 5" id="5"/>
          <p:cNvSpPr txBox="true"/>
          <p:nvPr/>
        </p:nvSpPr>
        <p:spPr>
          <a:xfrm rot="0">
            <a:off x="1095529" y="951830"/>
            <a:ext cx="7738249" cy="4864462"/>
          </a:xfrm>
          <a:prstGeom prst="rect">
            <a:avLst/>
          </a:prstGeom>
        </p:spPr>
        <p:txBody>
          <a:bodyPr anchor="t" rtlCol="false" tIns="0" lIns="0" bIns="0" rIns="0">
            <a:spAutoFit/>
          </a:bodyPr>
          <a:lstStyle/>
          <a:p>
            <a:pPr algn="l">
              <a:lnSpc>
                <a:spcPts val="5063"/>
              </a:lnSpc>
            </a:pPr>
            <a:r>
              <a:rPr lang="en-US" sz="4219">
                <a:solidFill>
                  <a:srgbClr val="FFFFFF"/>
                </a:solidFill>
                <a:latin typeface="Times New Roman MT"/>
                <a:ea typeface="Times New Roman MT"/>
                <a:cs typeface="Times New Roman MT"/>
                <a:sym typeface="Times New Roman MT"/>
              </a:rPr>
              <a:t>GenAI &amp; Agentic Behaviour</a:t>
            </a:r>
            <a:r>
              <a:rPr lang="en-US" sz="4219" b="true">
                <a:solidFill>
                  <a:srgbClr val="FFFFFF"/>
                </a:solidFill>
                <a:latin typeface="Times New Roman MT Bold"/>
                <a:ea typeface="Times New Roman MT Bold"/>
                <a:cs typeface="Times New Roman MT Bold"/>
                <a:sym typeface="Times New Roman MT Bold"/>
              </a:rPr>
              <a:t> </a:t>
            </a:r>
          </a:p>
          <a:p>
            <a:pPr algn="l">
              <a:lnSpc>
                <a:spcPts val="5063"/>
              </a:lnSpc>
              <a:spcBef>
                <a:spcPct val="0"/>
              </a:spcBef>
            </a:pPr>
          </a:p>
          <a:p>
            <a:pPr algn="l">
              <a:lnSpc>
                <a:spcPts val="4660"/>
              </a:lnSpc>
            </a:pPr>
            <a:r>
              <a:rPr lang="en-US" sz="3046">
                <a:solidFill>
                  <a:srgbClr val="FFFFFF"/>
                </a:solidFill>
                <a:latin typeface="Canva Sans"/>
                <a:ea typeface="Canva Sans"/>
                <a:cs typeface="Canva Sans"/>
                <a:sym typeface="Canva Sans"/>
              </a:rPr>
              <a:t>•• Simplifies complex medical information</a:t>
            </a:r>
          </a:p>
          <a:p>
            <a:pPr algn="l">
              <a:lnSpc>
                <a:spcPts val="4660"/>
              </a:lnSpc>
            </a:pPr>
            <a:r>
              <a:rPr lang="en-US" sz="3046">
                <a:solidFill>
                  <a:srgbClr val="FFFFFF"/>
                </a:solidFill>
                <a:latin typeface="Canva Sans"/>
                <a:ea typeface="Canva Sans"/>
                <a:cs typeface="Canva Sans"/>
                <a:sym typeface="Canva Sans"/>
              </a:rPr>
              <a:t>•• Asks clarifying questions when needed</a:t>
            </a:r>
          </a:p>
          <a:p>
            <a:pPr algn="l">
              <a:lnSpc>
                <a:spcPts val="4660"/>
              </a:lnSpc>
            </a:pPr>
            <a:r>
              <a:rPr lang="en-US" sz="3046">
                <a:solidFill>
                  <a:srgbClr val="FFFFFF"/>
                </a:solidFill>
                <a:latin typeface="Canva Sans"/>
                <a:ea typeface="Canva Sans"/>
                <a:cs typeface="Canva Sans"/>
                <a:sym typeface="Canva Sans"/>
              </a:rPr>
              <a:t>•• Sends proactive daily health tips</a:t>
            </a:r>
          </a:p>
          <a:p>
            <a:pPr algn="l">
              <a:lnSpc>
                <a:spcPts val="4660"/>
              </a:lnSpc>
            </a:pPr>
            <a:r>
              <a:rPr lang="en-US" sz="3046">
                <a:solidFill>
                  <a:srgbClr val="FFFFFF"/>
                </a:solidFill>
                <a:latin typeface="Canva Sans"/>
                <a:ea typeface="Canva Sans"/>
                <a:cs typeface="Canva Sans"/>
                <a:sym typeface="Canva Sans"/>
              </a:rPr>
              <a:t>•• Maintains user context across sessions</a:t>
            </a:r>
          </a:p>
          <a:p>
            <a:pPr algn="l">
              <a:lnSpc>
                <a:spcPts val="4660"/>
              </a:lnSpc>
            </a:pPr>
            <a:r>
              <a:rPr lang="en-US" sz="3046">
                <a:solidFill>
                  <a:srgbClr val="FFFFFF"/>
                </a:solidFill>
                <a:latin typeface="Canva Sans"/>
                <a:ea typeface="Canva Sans"/>
                <a:cs typeface="Canva Sans"/>
                <a:sym typeface="Canva Sans"/>
              </a:rPr>
              <a:t>•• Monitors patterns and flags risks</a:t>
            </a:r>
          </a:p>
          <a:p>
            <a:pPr algn="ctr">
              <a:lnSpc>
                <a:spcPts val="4603"/>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bg_1.png"/>
          <p:cNvSpPr/>
          <p:nvPr/>
        </p:nvSpPr>
        <p:spPr>
          <a:xfrm flipH="false" flipV="false" rot="0">
            <a:off x="1905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16646" t="0" r="-16646" b="0"/>
            </a:stretch>
          </a:blipFill>
        </p:spPr>
      </p:sp>
      <p:sp>
        <p:nvSpPr>
          <p:cNvPr name="TextBox 3" id="3"/>
          <p:cNvSpPr txBox="true"/>
          <p:nvPr/>
        </p:nvSpPr>
        <p:spPr>
          <a:xfrm rot="0">
            <a:off x="1310729" y="697230"/>
            <a:ext cx="7581230" cy="5514975"/>
          </a:xfrm>
          <a:prstGeom prst="rect">
            <a:avLst/>
          </a:prstGeom>
        </p:spPr>
        <p:txBody>
          <a:bodyPr anchor="t" rtlCol="false" tIns="0" lIns="0" bIns="0" rIns="0">
            <a:spAutoFit/>
          </a:bodyPr>
          <a:lstStyle/>
          <a:p>
            <a:pPr algn="l">
              <a:lnSpc>
                <a:spcPts val="4047"/>
              </a:lnSpc>
              <a:spcBef>
                <a:spcPct val="0"/>
              </a:spcBef>
            </a:pPr>
            <a:r>
              <a:rPr lang="en-US" b="true" sz="3373">
                <a:solidFill>
                  <a:srgbClr val="FFFFFF"/>
                </a:solidFill>
                <a:latin typeface="Times New Roman MT Bold"/>
                <a:ea typeface="Times New Roman MT Bold"/>
                <a:cs typeface="Times New Roman MT Bold"/>
                <a:sym typeface="Times New Roman MT Bold"/>
              </a:rPr>
              <a:t>AI Responsibilities, Triggers &amp; B</a:t>
            </a:r>
            <a:r>
              <a:rPr lang="en-US" b="true" sz="3373">
                <a:solidFill>
                  <a:srgbClr val="FFFFFF"/>
                </a:solidFill>
                <a:latin typeface="Times New Roman MT Bold"/>
                <a:ea typeface="Times New Roman MT Bold"/>
                <a:cs typeface="Times New Roman MT Bold"/>
                <a:sym typeface="Times New Roman MT Bold"/>
              </a:rPr>
              <a:t>oundaries</a:t>
            </a:r>
          </a:p>
          <a:p>
            <a:pPr algn="just">
              <a:lnSpc>
                <a:spcPts val="3564"/>
              </a:lnSpc>
            </a:pPr>
          </a:p>
          <a:p>
            <a:pPr algn="just">
              <a:lnSpc>
                <a:spcPts val="3564"/>
              </a:lnSpc>
            </a:pPr>
            <a:r>
              <a:rPr lang="en-US" sz="2299">
                <a:solidFill>
                  <a:srgbClr val="FFFFFF"/>
                </a:solidFill>
                <a:latin typeface="Helvetica World"/>
                <a:ea typeface="Helvetica World"/>
                <a:cs typeface="Helvetica World"/>
                <a:sym typeface="Helvetica World"/>
              </a:rPr>
              <a:t>•</a:t>
            </a:r>
            <a:r>
              <a:rPr lang="en-US" b="true" sz="2299">
                <a:solidFill>
                  <a:srgbClr val="FFFFFF"/>
                </a:solidFill>
                <a:latin typeface="Helvetica World Bold"/>
                <a:ea typeface="Helvetica World Bold"/>
                <a:cs typeface="Helvetica World Bold"/>
                <a:sym typeface="Helvetica World Bold"/>
              </a:rPr>
              <a:t>Responsibilities</a:t>
            </a:r>
            <a:r>
              <a:rPr lang="en-US" sz="2299">
                <a:solidFill>
                  <a:srgbClr val="FFFFFF"/>
                </a:solidFill>
                <a:latin typeface="Helvetica World"/>
                <a:ea typeface="Helvetica World"/>
                <a:cs typeface="Helvetica World"/>
                <a:sym typeface="Helvetica World"/>
              </a:rPr>
              <a:t>:</a:t>
            </a:r>
          </a:p>
          <a:p>
            <a:pPr algn="just">
              <a:lnSpc>
                <a:spcPts val="3564"/>
              </a:lnSpc>
            </a:pPr>
            <a:r>
              <a:rPr lang="en-US" sz="2299">
                <a:solidFill>
                  <a:srgbClr val="FFFFFF"/>
                </a:solidFill>
                <a:latin typeface="Canva Sans"/>
                <a:ea typeface="Canva Sans"/>
                <a:cs typeface="Canva Sans"/>
                <a:sym typeface="Canva Sans"/>
              </a:rPr>
              <a:t>•• Understand multilingual queries</a:t>
            </a:r>
          </a:p>
          <a:p>
            <a:pPr algn="just">
              <a:lnSpc>
                <a:spcPts val="3564"/>
              </a:lnSpc>
            </a:pPr>
            <a:r>
              <a:rPr lang="en-US" sz="2299">
                <a:solidFill>
                  <a:srgbClr val="FFFFFF"/>
                </a:solidFill>
                <a:latin typeface="Canva Sans"/>
                <a:ea typeface="Canva Sans"/>
                <a:cs typeface="Canva Sans"/>
                <a:sym typeface="Canva Sans"/>
              </a:rPr>
              <a:t>•• Provide verified, non-diagnostic guidance</a:t>
            </a:r>
          </a:p>
          <a:p>
            <a:pPr algn="just">
              <a:lnSpc>
                <a:spcPts val="3564"/>
              </a:lnSpc>
            </a:pPr>
            <a:r>
              <a:rPr lang="en-US" sz="2299">
                <a:solidFill>
                  <a:srgbClr val="FFFFFF"/>
                </a:solidFill>
                <a:latin typeface="Canva Sans"/>
                <a:ea typeface="Canva Sans"/>
                <a:cs typeface="Canva Sans"/>
                <a:sym typeface="Canva Sans"/>
              </a:rPr>
              <a:t>•• Detect red-flag symptoms</a:t>
            </a:r>
          </a:p>
          <a:p>
            <a:pPr algn="just">
              <a:lnSpc>
                <a:spcPts val="3564"/>
              </a:lnSpc>
            </a:pPr>
            <a:r>
              <a:rPr lang="en-US" sz="2299">
                <a:solidFill>
                  <a:srgbClr val="FFFFFF"/>
                </a:solidFill>
                <a:latin typeface="Canva Sans"/>
                <a:ea typeface="Canva Sans"/>
                <a:cs typeface="Canva Sans"/>
                <a:sym typeface="Canva Sans"/>
              </a:rPr>
              <a:t>•• Personalize responses</a:t>
            </a:r>
          </a:p>
          <a:p>
            <a:pPr algn="just">
              <a:lnSpc>
                <a:spcPts val="3564"/>
              </a:lnSpc>
            </a:pPr>
            <a:r>
              <a:rPr lang="en-US" sz="2299">
                <a:solidFill>
                  <a:srgbClr val="FFFFFF"/>
                </a:solidFill>
                <a:latin typeface="Canva Sans"/>
                <a:ea typeface="Canva Sans"/>
                <a:cs typeface="Canva Sans"/>
                <a:sym typeface="Canva Sans"/>
              </a:rPr>
              <a:t> </a:t>
            </a:r>
          </a:p>
          <a:p>
            <a:pPr algn="just">
              <a:lnSpc>
                <a:spcPts val="3564"/>
              </a:lnSpc>
            </a:pPr>
            <a:r>
              <a:rPr lang="en-US" sz="2299">
                <a:solidFill>
                  <a:srgbClr val="FFFFFF"/>
                </a:solidFill>
                <a:latin typeface="Helvetica World"/>
                <a:ea typeface="Helvetica World"/>
                <a:cs typeface="Helvetica World"/>
                <a:sym typeface="Helvetica World"/>
              </a:rPr>
              <a:t>•</a:t>
            </a:r>
            <a:r>
              <a:rPr lang="en-US" b="true" sz="2299">
                <a:solidFill>
                  <a:srgbClr val="FFFFFF"/>
                </a:solidFill>
                <a:latin typeface="Helvetica World Bold"/>
                <a:ea typeface="Helvetica World Bold"/>
                <a:cs typeface="Helvetica World Bold"/>
                <a:sym typeface="Helvetica World Bold"/>
              </a:rPr>
              <a:t>Boundaries</a:t>
            </a:r>
            <a:r>
              <a:rPr lang="en-US" sz="2299">
                <a:solidFill>
                  <a:srgbClr val="FFFFFF"/>
                </a:solidFill>
                <a:latin typeface="Helvetica World"/>
                <a:ea typeface="Helvetica World"/>
                <a:cs typeface="Helvetica World"/>
                <a:sym typeface="Helvetica World"/>
              </a:rPr>
              <a:t>:</a:t>
            </a:r>
          </a:p>
          <a:p>
            <a:pPr algn="just">
              <a:lnSpc>
                <a:spcPts val="3564"/>
              </a:lnSpc>
            </a:pPr>
            <a:r>
              <a:rPr lang="en-US" sz="2299">
                <a:solidFill>
                  <a:srgbClr val="FFFFFF"/>
                </a:solidFill>
                <a:latin typeface="Canva Sans"/>
                <a:ea typeface="Canva Sans"/>
                <a:cs typeface="Canva Sans"/>
                <a:sym typeface="Canva Sans"/>
              </a:rPr>
              <a:t>•• No diagnosis or prescriptions</a:t>
            </a:r>
          </a:p>
          <a:p>
            <a:pPr algn="just">
              <a:lnSpc>
                <a:spcPts val="3564"/>
              </a:lnSpc>
            </a:pPr>
            <a:r>
              <a:rPr lang="en-US" sz="2299">
                <a:solidFill>
                  <a:srgbClr val="FFFFFF"/>
                </a:solidFill>
                <a:latin typeface="Canva Sans"/>
                <a:ea typeface="Canva Sans"/>
                <a:cs typeface="Canva Sans"/>
                <a:sym typeface="Canva Sans"/>
              </a:rPr>
              <a:t>•• No emergency treatment</a:t>
            </a:r>
          </a:p>
          <a:p>
            <a:pPr algn="ctr">
              <a:lnSpc>
                <a:spcPts val="3208"/>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bg_1.png"/>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16646" t="0" r="-16646" b="0"/>
            </a:stretch>
          </a:blipFill>
        </p:spPr>
      </p:sp>
      <p:sp>
        <p:nvSpPr>
          <p:cNvPr name="TextBox 3" id="3"/>
          <p:cNvSpPr txBox="true"/>
          <p:nvPr/>
        </p:nvSpPr>
        <p:spPr>
          <a:xfrm rot="0">
            <a:off x="1341090" y="640080"/>
            <a:ext cx="7071420" cy="5943600"/>
          </a:xfrm>
          <a:prstGeom prst="rect">
            <a:avLst/>
          </a:prstGeom>
        </p:spPr>
        <p:txBody>
          <a:bodyPr anchor="t" rtlCol="false" tIns="0" lIns="0" bIns="0" rIns="0">
            <a:spAutoFit/>
          </a:bodyPr>
          <a:lstStyle/>
          <a:p>
            <a:pPr algn="ctr">
              <a:lnSpc>
                <a:spcPts val="4174"/>
              </a:lnSpc>
            </a:pPr>
            <a:r>
              <a:rPr lang="en-US" sz="3478" b="true">
                <a:solidFill>
                  <a:srgbClr val="FFFFFF"/>
                </a:solidFill>
                <a:latin typeface="Times New Roman MT Bold"/>
                <a:ea typeface="Times New Roman MT Bold"/>
                <a:cs typeface="Times New Roman MT Bold"/>
                <a:sym typeface="Times New Roman MT Bold"/>
              </a:rPr>
              <a:t>Safety, Failure Handling &amp; AI Metrics</a:t>
            </a:r>
          </a:p>
          <a:p>
            <a:pPr algn="ctr">
              <a:lnSpc>
                <a:spcPts val="4174"/>
              </a:lnSpc>
            </a:pPr>
          </a:p>
          <a:p>
            <a:pPr algn="l">
              <a:lnSpc>
                <a:spcPts val="3790"/>
              </a:lnSpc>
            </a:pPr>
            <a:r>
              <a:rPr lang="en-US" sz="2445">
                <a:solidFill>
                  <a:srgbClr val="FFFFFF"/>
                </a:solidFill>
                <a:latin typeface="Helvetica World"/>
                <a:ea typeface="Helvetica World"/>
                <a:cs typeface="Helvetica World"/>
                <a:sym typeface="Helvetica World"/>
              </a:rPr>
              <a:t>•</a:t>
            </a:r>
            <a:r>
              <a:rPr lang="en-US" sz="2445" b="true">
                <a:solidFill>
                  <a:srgbClr val="FFFFFF"/>
                </a:solidFill>
                <a:latin typeface="Helvetica World Bold"/>
                <a:ea typeface="Helvetica World Bold"/>
                <a:cs typeface="Helvetica World Bold"/>
                <a:sym typeface="Helvetica World Bold"/>
              </a:rPr>
              <a:t>Failure Handling:</a:t>
            </a:r>
          </a:p>
          <a:p>
            <a:pPr algn="l">
              <a:lnSpc>
                <a:spcPts val="3790"/>
              </a:lnSpc>
            </a:pPr>
            <a:r>
              <a:rPr lang="en-US" sz="2445">
                <a:solidFill>
                  <a:srgbClr val="FFFFFF"/>
                </a:solidFill>
                <a:latin typeface="Canva Sans"/>
                <a:ea typeface="Canva Sans"/>
                <a:cs typeface="Canva Sans"/>
                <a:sym typeface="Canva Sans"/>
              </a:rPr>
              <a:t>•• L</a:t>
            </a:r>
            <a:r>
              <a:rPr lang="en-US" sz="2445">
                <a:solidFill>
                  <a:srgbClr val="FFFFFF"/>
                </a:solidFill>
                <a:latin typeface="Canva Sans"/>
                <a:ea typeface="Canva Sans"/>
                <a:cs typeface="Canva Sans"/>
                <a:sym typeface="Canva Sans"/>
              </a:rPr>
              <a:t>ow confidence → nurse escalation</a:t>
            </a:r>
          </a:p>
          <a:p>
            <a:pPr algn="l">
              <a:lnSpc>
                <a:spcPts val="3790"/>
              </a:lnSpc>
            </a:pPr>
            <a:r>
              <a:rPr lang="en-US" sz="2445">
                <a:solidFill>
                  <a:srgbClr val="FFFFFF"/>
                </a:solidFill>
                <a:latin typeface="Canva Sans"/>
                <a:ea typeface="Canva Sans"/>
                <a:cs typeface="Canva Sans"/>
                <a:sym typeface="Canva Sans"/>
              </a:rPr>
              <a:t>•• High-risk → emergency guidance</a:t>
            </a:r>
          </a:p>
          <a:p>
            <a:pPr algn="l">
              <a:lnSpc>
                <a:spcPts val="3790"/>
              </a:lnSpc>
            </a:pPr>
            <a:r>
              <a:rPr lang="en-US" sz="2445">
                <a:solidFill>
                  <a:srgbClr val="FFFFFF"/>
                </a:solidFill>
                <a:latin typeface="Canva Sans"/>
                <a:ea typeface="Canva Sans"/>
                <a:cs typeface="Canva Sans"/>
                <a:sym typeface="Canva Sans"/>
              </a:rPr>
              <a:t>•• Ambiguous input → clarification</a:t>
            </a:r>
          </a:p>
          <a:p>
            <a:pPr algn="l">
              <a:lnSpc>
                <a:spcPts val="3790"/>
              </a:lnSpc>
            </a:pPr>
            <a:r>
              <a:rPr lang="en-US" sz="2445">
                <a:solidFill>
                  <a:srgbClr val="FFFFFF"/>
                </a:solidFill>
                <a:latin typeface="Helvetica World"/>
                <a:ea typeface="Helvetica World"/>
                <a:cs typeface="Helvetica World"/>
                <a:sym typeface="Helvetica World"/>
              </a:rPr>
              <a:t> </a:t>
            </a:r>
          </a:p>
          <a:p>
            <a:pPr algn="l">
              <a:lnSpc>
                <a:spcPts val="3790"/>
              </a:lnSpc>
            </a:pPr>
            <a:r>
              <a:rPr lang="en-US" b="true" sz="2445">
                <a:solidFill>
                  <a:srgbClr val="FFFFFF"/>
                </a:solidFill>
                <a:latin typeface="Helvetica World Bold"/>
                <a:ea typeface="Helvetica World Bold"/>
                <a:cs typeface="Helvetica World Bold"/>
                <a:sym typeface="Helvetica World Bold"/>
              </a:rPr>
              <a:t>•AI Metrics</a:t>
            </a:r>
            <a:r>
              <a:rPr lang="en-US" sz="2445">
                <a:solidFill>
                  <a:srgbClr val="FFFFFF"/>
                </a:solidFill>
                <a:latin typeface="Helvetica World"/>
                <a:ea typeface="Helvetica World"/>
                <a:cs typeface="Helvetica World"/>
                <a:sym typeface="Helvetica World"/>
              </a:rPr>
              <a:t>:</a:t>
            </a:r>
          </a:p>
          <a:p>
            <a:pPr algn="l">
              <a:lnSpc>
                <a:spcPts val="3790"/>
              </a:lnSpc>
            </a:pPr>
            <a:r>
              <a:rPr lang="en-US" sz="2445">
                <a:solidFill>
                  <a:srgbClr val="FFFFFF"/>
                </a:solidFill>
                <a:latin typeface="Canva Sans"/>
                <a:ea typeface="Canva Sans"/>
                <a:cs typeface="Canva Sans"/>
                <a:sym typeface="Canva Sans"/>
              </a:rPr>
              <a:t>•• Accuracy ≥ 85%</a:t>
            </a:r>
          </a:p>
          <a:p>
            <a:pPr algn="l">
              <a:lnSpc>
                <a:spcPts val="3790"/>
              </a:lnSpc>
            </a:pPr>
            <a:r>
              <a:rPr lang="en-US" sz="2445">
                <a:solidFill>
                  <a:srgbClr val="FFFFFF"/>
                </a:solidFill>
                <a:latin typeface="Canva Sans"/>
                <a:ea typeface="Canva Sans"/>
                <a:cs typeface="Canva Sans"/>
                <a:sym typeface="Canva Sans"/>
              </a:rPr>
              <a:t>•• Hallucination &lt; 5%</a:t>
            </a:r>
          </a:p>
          <a:p>
            <a:pPr algn="l">
              <a:lnSpc>
                <a:spcPts val="3790"/>
              </a:lnSpc>
            </a:pPr>
            <a:r>
              <a:rPr lang="en-US" sz="2445">
                <a:solidFill>
                  <a:srgbClr val="FFFFFF"/>
                </a:solidFill>
                <a:latin typeface="Canva Sans"/>
                <a:ea typeface="Canva Sans"/>
                <a:cs typeface="Canva Sans"/>
                <a:sym typeface="Canva Sans"/>
              </a:rPr>
              <a:t>•• Red-flag detection ≥ 90%</a:t>
            </a:r>
          </a:p>
          <a:p>
            <a:pPr algn="ctr">
              <a:lnSpc>
                <a:spcPts val="3678"/>
              </a:lnSpc>
              <a:spcBef>
                <a:spcPct val="0"/>
              </a:spcBef>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bg_1.png"/>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16646" t="0" r="-16646" b="0"/>
            </a:stretch>
          </a:blipFill>
        </p:spPr>
      </p:sp>
      <p:sp>
        <p:nvSpPr>
          <p:cNvPr name="Freeform 3" id="3"/>
          <p:cNvSpPr/>
          <p:nvPr/>
        </p:nvSpPr>
        <p:spPr>
          <a:xfrm flipH="false" flipV="false" rot="0">
            <a:off x="104796" y="224619"/>
            <a:ext cx="9544008" cy="6865962"/>
          </a:xfrm>
          <a:custGeom>
            <a:avLst/>
            <a:gdLst/>
            <a:ahLst/>
            <a:cxnLst/>
            <a:rect r="r" b="b" t="t" l="l"/>
            <a:pathLst>
              <a:path h="6865962" w="9544008">
                <a:moveTo>
                  <a:pt x="0" y="0"/>
                </a:moveTo>
                <a:lnTo>
                  <a:pt x="9544008" y="0"/>
                </a:lnTo>
                <a:lnTo>
                  <a:pt x="9544008" y="6865962"/>
                </a:lnTo>
                <a:lnTo>
                  <a:pt x="0" y="6865962"/>
                </a:lnTo>
                <a:lnTo>
                  <a:pt x="0" y="0"/>
                </a:lnTo>
                <a:close/>
              </a:path>
            </a:pathLst>
          </a:custGeom>
          <a:blipFill>
            <a:blip r:embed="rId3"/>
            <a:stretch>
              <a:fillRect l="-5953" t="0" r="-5953"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bg_1.png"/>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16646" t="0" r="-16646" b="0"/>
            </a:stretch>
          </a:blipFill>
        </p:spPr>
      </p:sp>
      <p:sp>
        <p:nvSpPr>
          <p:cNvPr name="TextBox 3" id="3"/>
          <p:cNvSpPr txBox="true"/>
          <p:nvPr/>
        </p:nvSpPr>
        <p:spPr>
          <a:xfrm rot="0">
            <a:off x="955239" y="547135"/>
            <a:ext cx="7620000" cy="6154255"/>
          </a:xfrm>
          <a:prstGeom prst="rect">
            <a:avLst/>
          </a:prstGeom>
        </p:spPr>
        <p:txBody>
          <a:bodyPr anchor="t" rtlCol="false" tIns="0" lIns="0" bIns="0" rIns="0">
            <a:spAutoFit/>
          </a:bodyPr>
          <a:lstStyle/>
          <a:p>
            <a:pPr algn="l">
              <a:lnSpc>
                <a:spcPts val="3927"/>
              </a:lnSpc>
            </a:pPr>
            <a:r>
              <a:rPr lang="en-US" sz="3273" b="true">
                <a:solidFill>
                  <a:srgbClr val="FFFFFF"/>
                </a:solidFill>
                <a:latin typeface="Times New Roman MT Bold"/>
                <a:ea typeface="Times New Roman MT Bold"/>
                <a:cs typeface="Times New Roman MT Bold"/>
                <a:sym typeface="Times New Roman MT Bold"/>
              </a:rPr>
              <a:t>METRICS &amp; SUCCESS</a:t>
            </a:r>
          </a:p>
          <a:p>
            <a:pPr algn="l">
              <a:lnSpc>
                <a:spcPts val="3927"/>
              </a:lnSpc>
            </a:pPr>
          </a:p>
          <a:p>
            <a:pPr algn="l">
              <a:lnSpc>
                <a:spcPts val="3396"/>
              </a:lnSpc>
            </a:pPr>
            <a:r>
              <a:rPr lang="en-US" sz="2219" b="true">
                <a:solidFill>
                  <a:srgbClr val="FFFFFF"/>
                </a:solidFill>
                <a:latin typeface="Canva Sans Bold"/>
                <a:ea typeface="Canva Sans Bold"/>
                <a:cs typeface="Canva Sans Bold"/>
                <a:sym typeface="Canva Sans Bold"/>
              </a:rPr>
              <a:t>User Metrics:</a:t>
            </a:r>
          </a:p>
          <a:p>
            <a:pPr algn="l" marL="479296" indent="-239648" lvl="1">
              <a:lnSpc>
                <a:spcPts val="3396"/>
              </a:lnSpc>
              <a:buFont typeface="Arial"/>
              <a:buChar char="•"/>
            </a:pPr>
            <a:r>
              <a:rPr lang="en-US" sz="2219">
                <a:solidFill>
                  <a:srgbClr val="FFFFFF"/>
                </a:solidFill>
                <a:latin typeface="Canva Sans"/>
                <a:ea typeface="Canva Sans"/>
                <a:cs typeface="Canva Sans"/>
                <a:sym typeface="Canva Sans"/>
              </a:rPr>
              <a:t>DAU / MAU</a:t>
            </a:r>
          </a:p>
          <a:p>
            <a:pPr algn="l" marL="479296" indent="-239648" lvl="1">
              <a:lnSpc>
                <a:spcPts val="3396"/>
              </a:lnSpc>
              <a:buFont typeface="Arial"/>
              <a:buChar char="•"/>
            </a:pPr>
            <a:r>
              <a:rPr lang="en-US" sz="2219">
                <a:solidFill>
                  <a:srgbClr val="FFFFFF"/>
                </a:solidFill>
                <a:latin typeface="Canva Sans"/>
                <a:ea typeface="Canva Sans"/>
                <a:cs typeface="Canva Sans"/>
                <a:sym typeface="Canva Sans"/>
              </a:rPr>
              <a:t>Retention</a:t>
            </a:r>
          </a:p>
          <a:p>
            <a:pPr algn="l" marL="479296" indent="-239648" lvl="1">
              <a:lnSpc>
                <a:spcPts val="3396"/>
              </a:lnSpc>
              <a:buFont typeface="Arial"/>
              <a:buChar char="•"/>
            </a:pPr>
            <a:r>
              <a:rPr lang="en-US" sz="2219">
                <a:solidFill>
                  <a:srgbClr val="FFFFFF"/>
                </a:solidFill>
                <a:latin typeface="Canva Sans"/>
                <a:ea typeface="Canva Sans"/>
                <a:cs typeface="Canva Sans"/>
                <a:sym typeface="Canva Sans"/>
              </a:rPr>
              <a:t>CSAT / NPS</a:t>
            </a:r>
          </a:p>
          <a:p>
            <a:pPr algn="l">
              <a:lnSpc>
                <a:spcPts val="3396"/>
              </a:lnSpc>
            </a:pPr>
            <a:r>
              <a:rPr lang="en-US" sz="2219" b="true">
                <a:solidFill>
                  <a:srgbClr val="FFFFFF"/>
                </a:solidFill>
                <a:latin typeface="Canva Sans Bold"/>
                <a:ea typeface="Canva Sans Bold"/>
                <a:cs typeface="Canva Sans Bold"/>
                <a:sym typeface="Canva Sans Bold"/>
              </a:rPr>
              <a:t>AI Metrics:</a:t>
            </a:r>
          </a:p>
          <a:p>
            <a:pPr algn="l" marL="479296" indent="-239648" lvl="1">
              <a:lnSpc>
                <a:spcPts val="3396"/>
              </a:lnSpc>
              <a:buFont typeface="Arial"/>
              <a:buChar char="•"/>
            </a:pPr>
            <a:r>
              <a:rPr lang="en-US" sz="2219">
                <a:solidFill>
                  <a:srgbClr val="FFFFFF"/>
                </a:solidFill>
                <a:latin typeface="Canva Sans"/>
                <a:ea typeface="Canva Sans"/>
                <a:cs typeface="Canva Sans"/>
                <a:sym typeface="Canva Sans"/>
              </a:rPr>
              <a:t>≥ 85% accuracy</a:t>
            </a:r>
          </a:p>
          <a:p>
            <a:pPr algn="l" marL="479296" indent="-239648" lvl="1">
              <a:lnSpc>
                <a:spcPts val="3396"/>
              </a:lnSpc>
              <a:buFont typeface="Arial"/>
              <a:buChar char="•"/>
            </a:pPr>
            <a:r>
              <a:rPr lang="en-US" sz="2219">
                <a:solidFill>
                  <a:srgbClr val="FFFFFF"/>
                </a:solidFill>
                <a:latin typeface="Canva Sans"/>
                <a:ea typeface="Canva Sans"/>
                <a:cs typeface="Canva Sans"/>
                <a:sym typeface="Canva Sans"/>
              </a:rPr>
              <a:t>&lt; 5% hallucination</a:t>
            </a:r>
          </a:p>
          <a:p>
            <a:pPr algn="l" marL="479296" indent="-239648" lvl="1">
              <a:lnSpc>
                <a:spcPts val="3396"/>
              </a:lnSpc>
              <a:buFont typeface="Arial"/>
              <a:buChar char="•"/>
            </a:pPr>
            <a:r>
              <a:rPr lang="en-US" sz="2219">
                <a:solidFill>
                  <a:srgbClr val="FFFFFF"/>
                </a:solidFill>
                <a:latin typeface="Canva Sans"/>
                <a:ea typeface="Canva Sans"/>
                <a:cs typeface="Canva Sans"/>
                <a:sym typeface="Canva Sans"/>
              </a:rPr>
              <a:t>≥ 90% red-flag detection</a:t>
            </a:r>
          </a:p>
          <a:p>
            <a:pPr algn="l">
              <a:lnSpc>
                <a:spcPts val="3396"/>
              </a:lnSpc>
            </a:pPr>
            <a:r>
              <a:rPr lang="en-US" sz="2219" b="true">
                <a:solidFill>
                  <a:srgbClr val="FFFFFF"/>
                </a:solidFill>
                <a:latin typeface="Canva Sans Bold"/>
                <a:ea typeface="Canva Sans Bold"/>
                <a:cs typeface="Canva Sans Bold"/>
                <a:sym typeface="Canva Sans Bold"/>
              </a:rPr>
              <a:t>Business Metrics:</a:t>
            </a:r>
          </a:p>
          <a:p>
            <a:pPr algn="l" marL="479296" indent="-239648" lvl="1">
              <a:lnSpc>
                <a:spcPts val="3396"/>
              </a:lnSpc>
              <a:buFont typeface="Arial"/>
              <a:buChar char="•"/>
            </a:pPr>
            <a:r>
              <a:rPr lang="en-US" sz="2219">
                <a:solidFill>
                  <a:srgbClr val="FFFFFF"/>
                </a:solidFill>
                <a:latin typeface="Canva Sans"/>
                <a:ea typeface="Canva Sans"/>
                <a:cs typeface="Canva Sans"/>
                <a:sym typeface="Canva Sans"/>
              </a:rPr>
              <a:t>Free → Premium conversion</a:t>
            </a:r>
          </a:p>
          <a:p>
            <a:pPr algn="l" marL="479296" indent="-239648" lvl="1">
              <a:lnSpc>
                <a:spcPts val="3396"/>
              </a:lnSpc>
              <a:buFont typeface="Arial"/>
              <a:buChar char="•"/>
            </a:pPr>
            <a:r>
              <a:rPr lang="en-US" sz="2219">
                <a:solidFill>
                  <a:srgbClr val="FFFFFF"/>
                </a:solidFill>
                <a:latin typeface="Canva Sans"/>
                <a:ea typeface="Canva Sans"/>
                <a:cs typeface="Canva Sans"/>
                <a:sym typeface="Canva Sans"/>
              </a:rPr>
              <a:t>Cost per user</a:t>
            </a:r>
          </a:p>
          <a:p>
            <a:pPr algn="l" marL="479296" indent="-239648" lvl="1">
              <a:lnSpc>
                <a:spcPts val="3396"/>
              </a:lnSpc>
              <a:buFont typeface="Arial"/>
              <a:buChar char="•"/>
            </a:pPr>
            <a:r>
              <a:rPr lang="en-US" sz="2219">
                <a:solidFill>
                  <a:srgbClr val="FFFFFF"/>
                </a:solidFill>
                <a:latin typeface="Canva Sans"/>
                <a:ea typeface="Canva Sans"/>
                <a:cs typeface="Canva Sans"/>
                <a:sym typeface="Canva Sans"/>
              </a:rPr>
              <a:t>Nurse support margin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bg_1.png"/>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16646" t="0" r="-16646" b="0"/>
            </a:stretch>
          </a:blipFill>
        </p:spPr>
      </p:sp>
      <p:sp>
        <p:nvSpPr>
          <p:cNvPr name="TextBox 3" id="3"/>
          <p:cNvSpPr txBox="true"/>
          <p:nvPr/>
        </p:nvSpPr>
        <p:spPr>
          <a:xfrm rot="0">
            <a:off x="731520" y="664845"/>
            <a:ext cx="9166414" cy="7251932"/>
          </a:xfrm>
          <a:prstGeom prst="rect">
            <a:avLst/>
          </a:prstGeom>
        </p:spPr>
        <p:txBody>
          <a:bodyPr anchor="t" rtlCol="false" tIns="0" lIns="0" bIns="0" rIns="0">
            <a:spAutoFit/>
          </a:bodyPr>
          <a:lstStyle/>
          <a:p>
            <a:pPr algn="l">
              <a:lnSpc>
                <a:spcPts val="4971"/>
              </a:lnSpc>
            </a:pPr>
            <a:r>
              <a:rPr lang="en-US" sz="3551">
                <a:solidFill>
                  <a:srgbClr val="FFFFFF"/>
                </a:solidFill>
                <a:latin typeface="Canva Sans"/>
                <a:ea typeface="Canva Sans"/>
                <a:cs typeface="Canva Sans"/>
                <a:sym typeface="Canva Sans"/>
              </a:rPr>
              <a:t>Revenue Model Selection</a:t>
            </a:r>
          </a:p>
          <a:p>
            <a:pPr algn="l">
              <a:lnSpc>
                <a:spcPts val="4971"/>
              </a:lnSpc>
            </a:pPr>
          </a:p>
          <a:p>
            <a:pPr algn="l">
              <a:lnSpc>
                <a:spcPts val="3358"/>
              </a:lnSpc>
            </a:pPr>
            <a:r>
              <a:rPr lang="en-US" sz="2398">
                <a:solidFill>
                  <a:srgbClr val="FFFFFF"/>
                </a:solidFill>
                <a:latin typeface="Canva Sans"/>
                <a:ea typeface="Canva Sans"/>
                <a:cs typeface="Canva Sans"/>
                <a:sym typeface="Canva Sans"/>
              </a:rPr>
              <a:t>Fremium Model</a:t>
            </a:r>
          </a:p>
          <a:p>
            <a:pPr algn="l" marL="519386" indent="-259693" lvl="1">
              <a:lnSpc>
                <a:spcPts val="3680"/>
              </a:lnSpc>
              <a:buFont typeface="Arial"/>
              <a:buChar char="•"/>
            </a:pPr>
            <a:r>
              <a:rPr lang="en-US" sz="2405">
                <a:solidFill>
                  <a:srgbClr val="FFFFFF"/>
                </a:solidFill>
                <a:latin typeface="Canva Sans"/>
                <a:ea typeface="Canva Sans"/>
                <a:cs typeface="Canva Sans"/>
                <a:sym typeface="Canva Sans"/>
              </a:rPr>
              <a:t>Freemium AI health Q&amp;A (mass adoption)</a:t>
            </a:r>
          </a:p>
          <a:p>
            <a:pPr algn="l" marL="519386" indent="-259693" lvl="1">
              <a:lnSpc>
                <a:spcPts val="3680"/>
              </a:lnSpc>
              <a:buFont typeface="Arial"/>
              <a:buChar char="•"/>
            </a:pPr>
            <a:r>
              <a:rPr lang="en-US" sz="2405">
                <a:solidFill>
                  <a:srgbClr val="FFFFFF"/>
                </a:solidFill>
                <a:latin typeface="Canva Sans"/>
                <a:ea typeface="Canva Sans"/>
                <a:cs typeface="Canva Sans"/>
                <a:sym typeface="Canva Sans"/>
              </a:rPr>
              <a:t>P</a:t>
            </a:r>
            <a:r>
              <a:rPr lang="en-US" sz="2405">
                <a:solidFill>
                  <a:srgbClr val="FFFFFF"/>
                </a:solidFill>
                <a:latin typeface="Canva Sans"/>
                <a:ea typeface="Canva Sans"/>
                <a:cs typeface="Canva Sans"/>
                <a:sym typeface="Canva Sans"/>
              </a:rPr>
              <a:t>remium subscription (advanced explanations, tracking)</a:t>
            </a:r>
          </a:p>
          <a:p>
            <a:pPr algn="l" marL="519386" indent="-259693" lvl="1">
              <a:lnSpc>
                <a:spcPts val="3680"/>
              </a:lnSpc>
              <a:buFont typeface="Arial"/>
              <a:buChar char="•"/>
            </a:pPr>
            <a:r>
              <a:rPr lang="en-US" sz="2405">
                <a:solidFill>
                  <a:srgbClr val="FFFFFF"/>
                </a:solidFill>
                <a:latin typeface="Canva Sans"/>
                <a:ea typeface="Canva Sans"/>
                <a:cs typeface="Canva Sans"/>
                <a:sym typeface="Canva Sans"/>
              </a:rPr>
              <a:t>P</a:t>
            </a:r>
            <a:r>
              <a:rPr lang="en-US" sz="2405">
                <a:solidFill>
                  <a:srgbClr val="FFFFFF"/>
                </a:solidFill>
                <a:latin typeface="Canva Sans"/>
                <a:ea typeface="Canva Sans"/>
                <a:cs typeface="Canva Sans"/>
                <a:sym typeface="Canva Sans"/>
              </a:rPr>
              <a:t>aid nurse support (on-demand human assistance)</a:t>
            </a:r>
          </a:p>
          <a:p>
            <a:pPr algn="l" marL="519386" indent="-259693" lvl="1">
              <a:lnSpc>
                <a:spcPts val="3680"/>
              </a:lnSpc>
              <a:buFont typeface="Arial"/>
              <a:buChar char="•"/>
            </a:pPr>
            <a:r>
              <a:rPr lang="en-US" sz="2405">
                <a:solidFill>
                  <a:srgbClr val="FFFFFF"/>
                </a:solidFill>
                <a:latin typeface="Canva Sans"/>
                <a:ea typeface="Canva Sans"/>
                <a:cs typeface="Canva Sans"/>
                <a:sym typeface="Canva Sans"/>
              </a:rPr>
              <a:t>Limited, ethical health-related ads</a:t>
            </a:r>
          </a:p>
          <a:p>
            <a:pPr algn="l">
              <a:lnSpc>
                <a:spcPts val="3680"/>
              </a:lnSpc>
            </a:pPr>
          </a:p>
          <a:p>
            <a:pPr algn="l">
              <a:lnSpc>
                <a:spcPts val="3680"/>
              </a:lnSpc>
            </a:pPr>
            <a:r>
              <a:rPr lang="en-US" sz="2405">
                <a:solidFill>
                  <a:srgbClr val="FFFFFF"/>
                </a:solidFill>
                <a:latin typeface="Canva Sans"/>
                <a:ea typeface="Canva Sans"/>
                <a:cs typeface="Canva Sans"/>
                <a:sym typeface="Canva Sans"/>
              </a:rPr>
              <a:t>Why this works</a:t>
            </a:r>
          </a:p>
          <a:p>
            <a:pPr algn="l" marL="519386" indent="-259693" lvl="1">
              <a:lnSpc>
                <a:spcPts val="3680"/>
              </a:lnSpc>
              <a:buFont typeface="Arial"/>
              <a:buChar char="•"/>
            </a:pPr>
            <a:r>
              <a:rPr lang="en-US" sz="2405">
                <a:solidFill>
                  <a:srgbClr val="FFFFFF"/>
                </a:solidFill>
                <a:latin typeface="Canva Sans"/>
                <a:ea typeface="Canva Sans"/>
                <a:cs typeface="Canva Sans"/>
                <a:sym typeface="Canva Sans"/>
              </a:rPr>
              <a:t>Low entry barrier</a:t>
            </a:r>
          </a:p>
          <a:p>
            <a:pPr algn="l" marL="519386" indent="-259693" lvl="1">
              <a:lnSpc>
                <a:spcPts val="3680"/>
              </a:lnSpc>
              <a:buFont typeface="Arial"/>
              <a:buChar char="•"/>
            </a:pPr>
            <a:r>
              <a:rPr lang="en-US" sz="2405">
                <a:solidFill>
                  <a:srgbClr val="FFFFFF"/>
                </a:solidFill>
                <a:latin typeface="Canva Sans"/>
                <a:ea typeface="Canva Sans"/>
                <a:cs typeface="Canva Sans"/>
                <a:sym typeface="Canva Sans"/>
              </a:rPr>
              <a:t>Multiple revenue streams</a:t>
            </a:r>
          </a:p>
          <a:p>
            <a:pPr algn="l" marL="519386" indent="-259693" lvl="1">
              <a:lnSpc>
                <a:spcPts val="3680"/>
              </a:lnSpc>
              <a:buFont typeface="Arial"/>
              <a:buChar char="•"/>
            </a:pPr>
            <a:r>
              <a:rPr lang="en-US" sz="2405">
                <a:solidFill>
                  <a:srgbClr val="FFFFFF"/>
                </a:solidFill>
                <a:latin typeface="Canva Sans"/>
                <a:ea typeface="Canva Sans"/>
                <a:cs typeface="Canva Sans"/>
                <a:sym typeface="Canva Sans"/>
              </a:rPr>
              <a:t>Balances scale with sustainability</a:t>
            </a:r>
          </a:p>
          <a:p>
            <a:pPr algn="l">
              <a:lnSpc>
                <a:spcPts val="3680"/>
              </a:lnSpc>
            </a:pPr>
          </a:p>
          <a:p>
            <a:pPr algn="l">
              <a:lnSpc>
                <a:spcPts val="3680"/>
              </a:lnSpc>
            </a:pPr>
          </a:p>
          <a:p>
            <a:pPr algn="l">
              <a:lnSpc>
                <a:spcPts val="3680"/>
              </a:lnSpc>
              <a:spcBef>
                <a:spcPct val="0"/>
              </a:spcBef>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bg_1.png"/>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16646" t="0" r="-16646" b="0"/>
            </a:stretch>
          </a:blipFill>
        </p:spPr>
      </p:sp>
      <p:sp>
        <p:nvSpPr>
          <p:cNvPr name="TextBox 3" id="3"/>
          <p:cNvSpPr txBox="true"/>
          <p:nvPr/>
        </p:nvSpPr>
        <p:spPr>
          <a:xfrm rot="0">
            <a:off x="731520" y="664845"/>
            <a:ext cx="9547088" cy="7550284"/>
          </a:xfrm>
          <a:prstGeom prst="rect">
            <a:avLst/>
          </a:prstGeom>
        </p:spPr>
        <p:txBody>
          <a:bodyPr anchor="t" rtlCol="false" tIns="0" lIns="0" bIns="0" rIns="0">
            <a:spAutoFit/>
          </a:bodyPr>
          <a:lstStyle/>
          <a:p>
            <a:pPr algn="l">
              <a:lnSpc>
                <a:spcPts val="5183"/>
              </a:lnSpc>
            </a:pPr>
            <a:r>
              <a:rPr lang="en-US" sz="3702">
                <a:solidFill>
                  <a:srgbClr val="FFFFFF"/>
                </a:solidFill>
                <a:latin typeface="Canva Sans"/>
                <a:ea typeface="Canva Sans"/>
                <a:cs typeface="Canva Sans"/>
                <a:sym typeface="Canva Sans"/>
              </a:rPr>
              <a:t>Resource Availability Check</a:t>
            </a:r>
          </a:p>
          <a:p>
            <a:pPr algn="l">
              <a:lnSpc>
                <a:spcPts val="5183"/>
              </a:lnSpc>
            </a:pPr>
          </a:p>
          <a:p>
            <a:pPr algn="l">
              <a:lnSpc>
                <a:spcPts val="3497"/>
              </a:lnSpc>
            </a:pPr>
            <a:r>
              <a:rPr lang="en-US" sz="2498">
                <a:solidFill>
                  <a:srgbClr val="FFFFFF"/>
                </a:solidFill>
                <a:latin typeface="Canva Sans"/>
                <a:ea typeface="Canva Sans"/>
                <a:cs typeface="Canva Sans"/>
                <a:sym typeface="Canva Sans"/>
              </a:rPr>
              <a:t>Key Resources Required</a:t>
            </a:r>
          </a:p>
          <a:p>
            <a:pPr algn="l" marL="540956" indent="-270478" lvl="1">
              <a:lnSpc>
                <a:spcPts val="3833"/>
              </a:lnSpc>
              <a:buFont typeface="Arial"/>
              <a:buChar char="•"/>
            </a:pPr>
            <a:r>
              <a:rPr lang="en-US" sz="2505">
                <a:solidFill>
                  <a:srgbClr val="FFFFFF"/>
                </a:solidFill>
                <a:latin typeface="Canva Sans"/>
                <a:ea typeface="Canva Sans"/>
                <a:cs typeface="Canva Sans"/>
                <a:sym typeface="Canva Sans"/>
              </a:rPr>
              <a:t>AI mod</a:t>
            </a:r>
            <a:r>
              <a:rPr lang="en-US" sz="2505">
                <a:solidFill>
                  <a:srgbClr val="FFFFFF"/>
                </a:solidFill>
                <a:latin typeface="Canva Sans"/>
                <a:ea typeface="Canva Sans"/>
                <a:cs typeface="Canva Sans"/>
                <a:sym typeface="Canva Sans"/>
              </a:rPr>
              <a:t>els (language + health content)</a:t>
            </a:r>
          </a:p>
          <a:p>
            <a:pPr algn="l" marL="540956" indent="-270478" lvl="1">
              <a:lnSpc>
                <a:spcPts val="3833"/>
              </a:lnSpc>
              <a:buFont typeface="Arial"/>
              <a:buChar char="•"/>
            </a:pPr>
            <a:r>
              <a:rPr lang="en-US" sz="2505">
                <a:solidFill>
                  <a:srgbClr val="FFFFFF"/>
                </a:solidFill>
                <a:latin typeface="Canva Sans"/>
                <a:ea typeface="Canva Sans"/>
                <a:cs typeface="Canva Sans"/>
                <a:sym typeface="Canva Sans"/>
              </a:rPr>
              <a:t>Engineering team</a:t>
            </a:r>
          </a:p>
          <a:p>
            <a:pPr algn="l" marL="540956" indent="-270478" lvl="1">
              <a:lnSpc>
                <a:spcPts val="3833"/>
              </a:lnSpc>
              <a:buFont typeface="Arial"/>
              <a:buChar char="•"/>
            </a:pPr>
            <a:r>
              <a:rPr lang="en-US" sz="2505">
                <a:solidFill>
                  <a:srgbClr val="FFFFFF"/>
                </a:solidFill>
                <a:latin typeface="Canva Sans"/>
                <a:ea typeface="Canva Sans"/>
                <a:cs typeface="Canva Sans"/>
                <a:sym typeface="Canva Sans"/>
              </a:rPr>
              <a:t>Verified health content</a:t>
            </a:r>
          </a:p>
          <a:p>
            <a:pPr algn="l" marL="540956" indent="-270478" lvl="1">
              <a:lnSpc>
                <a:spcPts val="3833"/>
              </a:lnSpc>
              <a:buFont typeface="Arial"/>
              <a:buChar char="•"/>
            </a:pPr>
            <a:r>
              <a:rPr lang="en-US" sz="2505">
                <a:solidFill>
                  <a:srgbClr val="FFFFFF"/>
                </a:solidFill>
                <a:latin typeface="Canva Sans"/>
                <a:ea typeface="Canva Sans"/>
                <a:cs typeface="Canva Sans"/>
                <a:sym typeface="Canva Sans"/>
              </a:rPr>
              <a:t>N</a:t>
            </a:r>
            <a:r>
              <a:rPr lang="en-US" sz="2505">
                <a:solidFill>
                  <a:srgbClr val="FFFFFF"/>
                </a:solidFill>
                <a:latin typeface="Canva Sans"/>
                <a:ea typeface="Canva Sans"/>
                <a:cs typeface="Canva Sans"/>
                <a:sym typeface="Canva Sans"/>
              </a:rPr>
              <a:t>urse partner network</a:t>
            </a:r>
          </a:p>
          <a:p>
            <a:pPr algn="l">
              <a:lnSpc>
                <a:spcPts val="3833"/>
              </a:lnSpc>
            </a:pPr>
          </a:p>
          <a:p>
            <a:pPr algn="l">
              <a:lnSpc>
                <a:spcPts val="3833"/>
              </a:lnSpc>
            </a:pPr>
            <a:r>
              <a:rPr lang="en-US" sz="2505">
                <a:solidFill>
                  <a:srgbClr val="FFFFFF"/>
                </a:solidFill>
                <a:latin typeface="Canva Sans"/>
                <a:ea typeface="Canva Sans"/>
                <a:cs typeface="Canva Sans"/>
                <a:sym typeface="Canva Sans"/>
              </a:rPr>
              <a:t>Assessment- </a:t>
            </a:r>
          </a:p>
          <a:p>
            <a:pPr algn="l" marL="540956" indent="-270478" lvl="1">
              <a:lnSpc>
                <a:spcPts val="3833"/>
              </a:lnSpc>
              <a:buFont typeface="Arial"/>
              <a:buChar char="•"/>
            </a:pPr>
            <a:r>
              <a:rPr lang="en-US" sz="2505">
                <a:solidFill>
                  <a:srgbClr val="FFFFFF"/>
                </a:solidFill>
                <a:latin typeface="Canva Sans"/>
                <a:ea typeface="Canva Sans"/>
                <a:cs typeface="Canva Sans"/>
                <a:sym typeface="Canva Sans"/>
              </a:rPr>
              <a:t>All resources are readily available</a:t>
            </a:r>
          </a:p>
          <a:p>
            <a:pPr algn="l" marL="540956" indent="-270478" lvl="1">
              <a:lnSpc>
                <a:spcPts val="3833"/>
              </a:lnSpc>
              <a:buFont typeface="Arial"/>
              <a:buChar char="•"/>
            </a:pPr>
            <a:r>
              <a:rPr lang="en-US" sz="2505">
                <a:solidFill>
                  <a:srgbClr val="FFFFFF"/>
                </a:solidFill>
                <a:latin typeface="Canva Sans"/>
                <a:ea typeface="Canva Sans"/>
                <a:cs typeface="Canva Sans"/>
                <a:sym typeface="Canva Sans"/>
              </a:rPr>
              <a:t>No dependency on rare technology or licenses</a:t>
            </a:r>
          </a:p>
          <a:p>
            <a:pPr algn="l">
              <a:lnSpc>
                <a:spcPts val="3833"/>
              </a:lnSpc>
            </a:pPr>
          </a:p>
          <a:p>
            <a:pPr algn="l">
              <a:lnSpc>
                <a:spcPts val="3833"/>
              </a:lnSpc>
            </a:pPr>
          </a:p>
          <a:p>
            <a:pPr algn="l">
              <a:lnSpc>
                <a:spcPts val="3833"/>
              </a:lnSpc>
            </a:pPr>
          </a:p>
          <a:p>
            <a:pPr algn="l">
              <a:lnSpc>
                <a:spcPts val="3833"/>
              </a:lnSpc>
              <a:spcBef>
                <a:spcPct val="0"/>
              </a:spcBef>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bg_1.png"/>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16646" t="0" r="-16646" b="0"/>
            </a:stretch>
          </a:blipFill>
        </p:spPr>
      </p:sp>
      <p:sp>
        <p:nvSpPr>
          <p:cNvPr name="TextBox 3" id="3"/>
          <p:cNvSpPr txBox="true"/>
          <p:nvPr/>
        </p:nvSpPr>
        <p:spPr>
          <a:xfrm rot="0">
            <a:off x="731520" y="1295641"/>
            <a:ext cx="8889043" cy="4214300"/>
          </a:xfrm>
          <a:prstGeom prst="rect">
            <a:avLst/>
          </a:prstGeom>
        </p:spPr>
        <p:txBody>
          <a:bodyPr anchor="t" rtlCol="false" tIns="0" lIns="0" bIns="0" rIns="0">
            <a:spAutoFit/>
          </a:bodyPr>
          <a:lstStyle/>
          <a:p>
            <a:pPr algn="l">
              <a:lnSpc>
                <a:spcPts val="5336"/>
              </a:lnSpc>
            </a:pPr>
            <a:r>
              <a:rPr lang="en-US" sz="4446" b="true">
                <a:solidFill>
                  <a:srgbClr val="FFFFFF"/>
                </a:solidFill>
                <a:latin typeface="Times New Roman MT Bold"/>
                <a:ea typeface="Times New Roman MT Bold"/>
                <a:cs typeface="Times New Roman MT Bold"/>
                <a:sym typeface="Times New Roman MT Bold"/>
              </a:rPr>
              <a:t>Team Structure &amp; Responsibilities</a:t>
            </a:r>
          </a:p>
          <a:p>
            <a:pPr algn="l">
              <a:lnSpc>
                <a:spcPts val="5336"/>
              </a:lnSpc>
            </a:pPr>
          </a:p>
          <a:p>
            <a:pPr algn="l">
              <a:lnSpc>
                <a:spcPts val="4579"/>
              </a:lnSpc>
            </a:pPr>
            <a:r>
              <a:rPr lang="en-US" sz="2993">
                <a:solidFill>
                  <a:srgbClr val="FFFFFF"/>
                </a:solidFill>
                <a:latin typeface="Canva Sans"/>
                <a:ea typeface="Canva Sans"/>
                <a:cs typeface="Canva Sans"/>
                <a:sym typeface="Canva Sans"/>
              </a:rPr>
              <a:t>Vigneshwar – Frontend &amp; Backend Development</a:t>
            </a:r>
          </a:p>
          <a:p>
            <a:pPr algn="l">
              <a:lnSpc>
                <a:spcPts val="4579"/>
              </a:lnSpc>
            </a:pPr>
            <a:r>
              <a:rPr lang="en-US" sz="2993">
                <a:solidFill>
                  <a:srgbClr val="FFFFFF"/>
                </a:solidFill>
                <a:latin typeface="Canva Sans"/>
                <a:ea typeface="Canva Sans"/>
                <a:cs typeface="Canva Sans"/>
                <a:sym typeface="Canva Sans"/>
              </a:rPr>
              <a:t>Anusriraje – Requirement Analysis &amp; PRD</a:t>
            </a:r>
          </a:p>
          <a:p>
            <a:pPr algn="l">
              <a:lnSpc>
                <a:spcPts val="4579"/>
              </a:lnSpc>
            </a:pPr>
            <a:r>
              <a:rPr lang="en-US" sz="2993">
                <a:solidFill>
                  <a:srgbClr val="FFFFFF"/>
                </a:solidFill>
                <a:latin typeface="Canva Sans"/>
                <a:ea typeface="Canva Sans"/>
                <a:cs typeface="Canva Sans"/>
                <a:sym typeface="Canva Sans"/>
              </a:rPr>
              <a:t>Mayurika – Testing &amp; Quality Assurance</a:t>
            </a:r>
          </a:p>
          <a:p>
            <a:pPr algn="l">
              <a:lnSpc>
                <a:spcPts val="4579"/>
              </a:lnSpc>
            </a:pPr>
            <a:r>
              <a:rPr lang="en-US" sz="2993">
                <a:solidFill>
                  <a:srgbClr val="FFFFFF"/>
                </a:solidFill>
                <a:latin typeface="Canva Sans"/>
                <a:ea typeface="Canva Sans"/>
                <a:cs typeface="Canva Sans"/>
                <a:sym typeface="Canva Sans"/>
              </a:rPr>
              <a:t>Ananya – User &amp; Market Research</a:t>
            </a:r>
          </a:p>
          <a:p>
            <a:pPr algn="l">
              <a:lnSpc>
                <a:spcPts val="4579"/>
              </a:lnSpc>
            </a:pPr>
            <a:r>
              <a:rPr lang="en-US" sz="2993">
                <a:solidFill>
                  <a:srgbClr val="FFFFFF"/>
                </a:solidFill>
                <a:latin typeface="Canva Sans"/>
                <a:ea typeface="Canva Sans"/>
                <a:cs typeface="Canva Sans"/>
                <a:sym typeface="Canva Sans"/>
              </a:rPr>
              <a:t>Vaibhav – UI/UX Design</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bg_1.png"/>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2"/>
            <a:stretch>
              <a:fillRect l="-17688" t="0" r="-15605" b="0"/>
            </a:stretch>
          </a:blipFill>
        </p:spPr>
      </p:sp>
      <p:sp>
        <p:nvSpPr>
          <p:cNvPr name="TextBox 3" id="3"/>
          <p:cNvSpPr txBox="true"/>
          <p:nvPr/>
        </p:nvSpPr>
        <p:spPr>
          <a:xfrm rot="0">
            <a:off x="1066800" y="1159776"/>
            <a:ext cx="7620000" cy="4610100"/>
          </a:xfrm>
          <a:prstGeom prst="rect">
            <a:avLst/>
          </a:prstGeom>
        </p:spPr>
        <p:txBody>
          <a:bodyPr anchor="t" rtlCol="false" tIns="0" lIns="0" bIns="0" rIns="0">
            <a:spAutoFit/>
          </a:bodyPr>
          <a:lstStyle/>
          <a:p>
            <a:pPr algn="ctr">
              <a:lnSpc>
                <a:spcPts val="7887"/>
              </a:lnSpc>
            </a:pPr>
            <a:r>
              <a:rPr lang="en-US" sz="6573" b="true">
                <a:solidFill>
                  <a:srgbClr val="FFFFFF"/>
                </a:solidFill>
                <a:latin typeface="Times New Roman MT Bold"/>
                <a:ea typeface="Times New Roman MT Bold"/>
                <a:cs typeface="Times New Roman MT Bold"/>
                <a:sym typeface="Times New Roman MT Bold"/>
              </a:rPr>
              <a:t>Aarogya Sri</a:t>
            </a:r>
          </a:p>
          <a:p>
            <a:pPr algn="ctr">
              <a:lnSpc>
                <a:spcPts val="7887"/>
              </a:lnSpc>
            </a:pPr>
          </a:p>
          <a:p>
            <a:pPr algn="ctr">
              <a:lnSpc>
                <a:spcPts val="3383"/>
              </a:lnSpc>
            </a:pPr>
            <a:r>
              <a:rPr lang="en-US" sz="2819" b="true">
                <a:solidFill>
                  <a:srgbClr val="FFFFFF"/>
                </a:solidFill>
                <a:latin typeface="Canva Sans Bold"/>
                <a:ea typeface="Canva Sans Bold"/>
                <a:cs typeface="Canva Sans Bold"/>
                <a:sym typeface="Canva Sans Bold"/>
              </a:rPr>
              <a:t>Trusted healthcare guidance — for every</a:t>
            </a:r>
          </a:p>
          <a:p>
            <a:pPr algn="ctr">
              <a:lnSpc>
                <a:spcPts val="3383"/>
              </a:lnSpc>
            </a:pPr>
            <a:r>
              <a:rPr lang="en-US" sz="2819" b="true">
                <a:solidFill>
                  <a:srgbClr val="FFFFFF"/>
                </a:solidFill>
                <a:latin typeface="Canva Sans Bold"/>
                <a:ea typeface="Canva Sans Bold"/>
                <a:cs typeface="Canva Sans Bold"/>
                <a:sym typeface="Canva Sans Bold"/>
              </a:rPr>
              <a:t>language, every home.</a:t>
            </a:r>
          </a:p>
          <a:p>
            <a:pPr algn="ctr">
              <a:lnSpc>
                <a:spcPts val="3743"/>
              </a:lnSpc>
            </a:pPr>
          </a:p>
          <a:p>
            <a:pPr algn="ctr">
              <a:lnSpc>
                <a:spcPts val="3743"/>
              </a:lnSpc>
            </a:pPr>
          </a:p>
          <a:p>
            <a:pPr algn="ctr">
              <a:lnSpc>
                <a:spcPts val="5543"/>
              </a:lnSpc>
            </a:pPr>
            <a:r>
              <a:rPr lang="en-US" sz="4619" b="true">
                <a:solidFill>
                  <a:srgbClr val="FFFFFF"/>
                </a:solidFill>
                <a:latin typeface="Times New Roman MT Bold"/>
                <a:ea typeface="Times New Roman MT Bold"/>
                <a:cs typeface="Times New Roman MT Bold"/>
                <a:sym typeface="Times New Roman MT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DAG-sUIekSM</dc:identifier>
  <dcterms:modified xsi:type="dcterms:W3CDTF">2011-08-01T06:04:30Z</dcterms:modified>
  <cp:revision>1</cp:revision>
  <dc:title>AarogyaSri_Template_WhiteText 2.pptx</dc:title>
</cp:coreProperties>
</file>